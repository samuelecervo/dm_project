
<file path=[Content_Types].xml><?xml version="1.0" encoding="utf-8"?>
<Types xmlns="http://schemas.openxmlformats.org/package/2006/content-types">
  <Default ContentType="application/x-fontdata" Extension="fntdata"/>
  <Default ContentType="image/jpeg" Extension="jpeg"/>
  <Default ContentType="image/png" Extension="png"/>
  <Default ContentType="application/vnd.openxmlformats-package.relationships+xml" Extension="rels"/>
  <Default ContentType="image/svg+xml" Extension="svg"/>
  <Default ContentType="application/xml" Extension="xml"/>
  <Override ContentType="application/vnd.openxmlformats-officedocument.extended-properties+xml" PartName="/docProps/app.xml"/>
  <Override ContentType="application/vnd.openxmlformats-package.core-properties+xml" PartName="/docProps/core.xml"/>
  <Override ContentType="application/vnd.openxmlformats-officedocument.presentationml.presentation.main+xml" PartName="/ppt/presentation.xml"/>
  <Override ContentType="application/vnd.openxmlformats-officedocument.presentationml.presProps+xml" PartName="/ppt/presProps.xml"/>
  <Override ContentType="application/vnd.openxmlformats-officedocument.presentationml.slideLayout+xml" PartName="/ppt/slideLayouts/slideLayout1.xml"/>
  <Override ContentType="application/vnd.openxmlformats-officedocument.presentationml.slideLayout+xml" PartName="/ppt/slideLayouts/slideLayout2.xml"/>
  <Override ContentType="application/vnd.openxmlformats-officedocument.presentationml.slideLayout+xml" PartName="/ppt/slideLayouts/slideLayout3.xml"/>
  <Override ContentType="application/vnd.openxmlformats-officedocument.presentationml.slideLayout+xml" PartName="/ppt/slideLayouts/slideLayout4.xml"/>
  <Override ContentType="application/vnd.openxmlformats-officedocument.presentationml.slideLayout+xml" PartName="/ppt/slideLayouts/slideLayout5.xml"/>
  <Override ContentType="application/vnd.openxmlformats-officedocument.presentationml.slideLayout+xml" PartName="/ppt/slideLayouts/slideLayout6.xml"/>
  <Override ContentType="application/vnd.openxmlformats-officedocument.presentationml.slideLayout+xml" PartName="/ppt/slideLayouts/slideLayout7.xml"/>
  <Override ContentType="application/vnd.openxmlformats-officedocument.presentationml.slideLayout+xml" PartName="/ppt/slideLayouts/slideLayout8.xml"/>
  <Override ContentType="application/vnd.openxmlformats-officedocument.presentationml.slideLayout+xml" PartName="/ppt/slideLayouts/slideLayout9.xml"/>
  <Override ContentType="application/vnd.openxmlformats-officedocument.presentationml.slideLayout+xml" PartName="/ppt/slideLayouts/slideLayout10.xml"/>
  <Override ContentType="application/vnd.openxmlformats-officedocument.presentationml.slideLayout+xml" PartName="/ppt/slideLayouts/slideLayout11.xml"/>
  <Override ContentType="application/vnd.openxmlformats-officedocument.presentationml.slideMaster+xml" PartName="/ppt/slideMasters/slideMaster1.xml"/>
  <Override ContentType="application/vnd.openxmlformats-officedocument.presentationml.slide+xml" PartName="/ppt/slides/slide1.xml"/>
  <Override ContentType="application/vnd.openxmlformats-officedocument.presentationml.slide+xml" PartName="/ppt/slides/slide2.xml"/>
  <Override ContentType="application/vnd.openxmlformats-officedocument.presentationml.slide+xml" PartName="/ppt/slides/slide3.xml"/>
  <Override ContentType="application/vnd.openxmlformats-officedocument.presentationml.slide+xml" PartName="/ppt/slides/slide4.xml"/>
  <Override ContentType="application/vnd.openxmlformats-officedocument.presentationml.slide+xml" PartName="/ppt/slides/slide5.xml"/>
  <Override ContentType="application/vnd.openxmlformats-officedocument.presentationml.slide+xml" PartName="/ppt/slides/slide6.xml"/>
  <Override ContentType="application/vnd.openxmlformats-officedocument.presentationml.slide+xml" PartName="/ppt/slides/slide7.xml"/>
  <Override ContentType="application/vnd.openxmlformats-officedocument.presentationml.slide+xml" PartName="/ppt/slides/slide8.xml"/>
  <Override ContentType="application/vnd.openxmlformats-officedocument.presentationml.slide+xml" PartName="/ppt/slides/slide9.xml"/>
  <Override ContentType="application/vnd.openxmlformats-officedocument.presentationml.slide+xml" PartName="/ppt/slides/slide10.xml"/>
  <Override ContentType="application/vnd.openxmlformats-officedocument.presentationml.slide+xml" PartName="/ppt/slides/slide11.xml"/>
  <Override ContentType="application/vnd.openxmlformats-officedocument.presentationml.slide+xml" PartName="/ppt/slides/slide12.xml"/>
  <Override ContentType="application/vnd.openxmlformats-officedocument.presentationml.slide+xml" PartName="/ppt/slides/slide13.xml"/>
  <Override ContentType="application/vnd.openxmlformats-officedocument.presentationml.slide+xml" PartName="/ppt/slides/slide14.xml"/>
  <Override ContentType="application/vnd.openxmlformats-officedocument.presentationml.slide+xml" PartName="/ppt/slides/slide15.xml"/>
  <Override ContentType="application/vnd.openxmlformats-officedocument.presentationml.slide+xml" PartName="/ppt/slides/slide16.xml"/>
  <Override ContentType="application/vnd.openxmlformats-officedocument.presentationml.slide+xml" PartName="/ppt/slides/slide17.xml"/>
  <Override ContentType="application/vnd.openxmlformats-officedocument.presentationml.slide+xml" PartName="/ppt/slides/slide18.xml"/>
  <Override ContentType="application/vnd.openxmlformats-officedocument.presentationml.slide+xml" PartName="/ppt/slides/slide19.xml"/>
  <Override ContentType="application/vnd.openxmlformats-officedocument.presentationml.slide+xml" PartName="/ppt/slides/slide20.xml"/>
  <Override ContentType="application/vnd.openxmlformats-officedocument.presentationml.slide+xml" PartName="/ppt/slides/slide21.xml"/>
  <Override ContentType="application/vnd.openxmlformats-officedocument.presentationml.slide+xml" PartName="/ppt/slides/slide22.xml"/>
  <Override ContentType="application/vnd.openxmlformats-officedocument.presentationml.tableStyles+xml" PartName="/ppt/tableStyles.xml"/>
  <Override ContentType="application/vnd.openxmlformats-officedocument.theme+xml" PartName="/ppt/theme/theme1.xml"/>
  <Override ContentType="application/vnd.openxmlformats-officedocument.presentationml.viewProps+xml" PartName="/ppt/viewProps.xml"/>
</Types>
</file>

<file path=_rels/.rels><?xml version="1.0" encoding="UTF-8" standalone="yes"?><Relationships xmlns="http://schemas.openxmlformats.org/package/2006/relationships"><Relationship Id="rId1" Target="ppt/presentation.xml" Type="http://schemas.openxmlformats.org/officeDocument/2006/relationships/officeDocument"/><Relationship Id="rId2" Target="docProps/thumbnail.jpeg" Type="http://schemas.openxmlformats.org/package/2006/relationships/metadata/thumbnail"/><Relationship Id="rId3" Target="docProps/core.xml" Type="http://schemas.openxmlformats.org/package/2006/relationships/metadata/core-properties"/><Relationship Id="rId4" Target="docProps/app.xml" Type="http://schemas.openxmlformats.org/officeDocument/2006/relationships/extended-properties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embedTrueTypeFonts="true">
  <p:sldMasterIdLst>
    <p:sldMasterId id="2147483648" r:id="rId1"/>
  </p:sldMasterIdLst>
  <p:sldIdLst>
    <p:sldId id="256" r:id="rId6"/>
    <p:sldId id="257" r:id="rId7"/>
    <p:sldId id="258" r:id="rId8"/>
    <p:sldId id="259" r:id="rId9"/>
    <p:sldId id="260" r:id="rId10"/>
    <p:sldId id="261" r:id="rId11"/>
    <p:sldId id="262" r:id="rId12"/>
    <p:sldId id="263" r:id="rId13"/>
    <p:sldId id="264" r:id="rId14"/>
    <p:sldId id="265" r:id="rId15"/>
    <p:sldId id="266" r:id="rId16"/>
    <p:sldId id="267" r:id="rId17"/>
    <p:sldId id="268" r:id="rId18"/>
    <p:sldId id="269" r:id="rId19"/>
    <p:sldId id="270" r:id="rId20"/>
    <p:sldId id="271" r:id="rId21"/>
    <p:sldId id="272" r:id="rId22"/>
    <p:sldId id="273" r:id="rId23"/>
    <p:sldId id="274" r:id="rId24"/>
    <p:sldId id="275" r:id="rId25"/>
    <p:sldId id="276" r:id="rId26"/>
    <p:sldId id="277" r:id="rId27"/>
  </p:sldIdLst>
  <p:sldSz cx="18288000" cy="10287000"/>
  <p:notesSz cx="6858000" cy="9144000"/>
  <p:embeddedFontLst>
    <p:embeddedFont>
      <p:font typeface="Archivo Black" charset="1" panose="020B0A03020202020B04"/>
      <p:regular r:id="rId28"/>
    </p:embeddedFont>
    <p:embeddedFont>
      <p:font typeface="Garet Bold" charset="1" panose="00000000000000000000"/>
      <p:regular r:id="rId29"/>
    </p:embeddedFont>
    <p:embeddedFont>
      <p:font typeface="Garet" charset="1" panose="00000000000000000000"/>
      <p:regular r:id="rId30"/>
    </p:embeddedFont>
    <p:embeddedFont>
      <p:font typeface="Telegraf Bold" charset="1" panose="00000800000000000000"/>
      <p:regular r:id="rId31"/>
    </p:embeddedFont>
    <p:embeddedFont>
      <p:font typeface="Telegraf" charset="1" panose="00000500000000000000"/>
      <p:regular r:id="rId32"/>
    </p:embeddedFont>
    <p:embeddedFont>
      <p:font typeface="Anca Coder Bold" charset="1" panose="020B0809020502020204"/>
      <p:regular r:id="rId33"/>
    </p:embeddedFont>
  </p:embeddedFontLst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 autoAdjust="0"/>
    <p:restoredTop sz="94622" autoAdjust="0"/>
  </p:normalViewPr>
  <p:slideViewPr>
    <p:cSldViewPr>
      <p:cViewPr varScale="1">
        <p:scale>
          <a:sx n="74" d="100"/>
          <a:sy n="74" d="100"/>
        </p:scale>
        <p:origin x="-1092" y="-90"/>
      </p:cViewPr>
      <p:guideLst>
        <p:guide orient="horz" pos="2160"/>
        <p:guide pos="2880"/>
      </p:guideLst>
    </p:cSldViewPr>
  </p:slideViewPr>
  <p:outlineViewPr>
    <p:cViewPr>
      <p:scale>
        <a:sx n="33" d="100"/>
        <a:sy n="33" d="100"/>
      </p:scale>
      <p:origin x="0" y="0"/>
    </p:cViewPr>
  </p:outlin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"1.0" encoding="UTF-8" standalone="yes"?><Relationships xmlns="http://schemas.openxmlformats.org/package/2006/relationships"><Relationship Id="rId1" Target="slideMasters/slideMaster1.xml" Type="http://schemas.openxmlformats.org/officeDocument/2006/relationships/slideMaster"/><Relationship Id="rId10" Target="slides/slide5.xml" Type="http://schemas.openxmlformats.org/officeDocument/2006/relationships/slide"/><Relationship Id="rId11" Target="slides/slide6.xml" Type="http://schemas.openxmlformats.org/officeDocument/2006/relationships/slide"/><Relationship Id="rId12" Target="slides/slide7.xml" Type="http://schemas.openxmlformats.org/officeDocument/2006/relationships/slide"/><Relationship Id="rId13" Target="slides/slide8.xml" Type="http://schemas.openxmlformats.org/officeDocument/2006/relationships/slide"/><Relationship Id="rId14" Target="slides/slide9.xml" Type="http://schemas.openxmlformats.org/officeDocument/2006/relationships/slide"/><Relationship Id="rId15" Target="slides/slide10.xml" Type="http://schemas.openxmlformats.org/officeDocument/2006/relationships/slide"/><Relationship Id="rId16" Target="slides/slide11.xml" Type="http://schemas.openxmlformats.org/officeDocument/2006/relationships/slide"/><Relationship Id="rId17" Target="slides/slide12.xml" Type="http://schemas.openxmlformats.org/officeDocument/2006/relationships/slide"/><Relationship Id="rId18" Target="slides/slide13.xml" Type="http://schemas.openxmlformats.org/officeDocument/2006/relationships/slide"/><Relationship Id="rId19" Target="slides/slide14.xml" Type="http://schemas.openxmlformats.org/officeDocument/2006/relationships/slide"/><Relationship Id="rId2" Target="presProps.xml" Type="http://schemas.openxmlformats.org/officeDocument/2006/relationships/presProps"/><Relationship Id="rId20" Target="slides/slide15.xml" Type="http://schemas.openxmlformats.org/officeDocument/2006/relationships/slide"/><Relationship Id="rId21" Target="slides/slide16.xml" Type="http://schemas.openxmlformats.org/officeDocument/2006/relationships/slide"/><Relationship Id="rId22" Target="slides/slide17.xml" Type="http://schemas.openxmlformats.org/officeDocument/2006/relationships/slide"/><Relationship Id="rId23" Target="slides/slide18.xml" Type="http://schemas.openxmlformats.org/officeDocument/2006/relationships/slide"/><Relationship Id="rId24" Target="slides/slide19.xml" Type="http://schemas.openxmlformats.org/officeDocument/2006/relationships/slide"/><Relationship Id="rId25" Target="slides/slide20.xml" Type="http://schemas.openxmlformats.org/officeDocument/2006/relationships/slide"/><Relationship Id="rId26" Target="slides/slide21.xml" Type="http://schemas.openxmlformats.org/officeDocument/2006/relationships/slide"/><Relationship Id="rId27" Target="slides/slide22.xml" Type="http://schemas.openxmlformats.org/officeDocument/2006/relationships/slide"/><Relationship Id="rId28" Target="fonts/font28.fntdata" Type="http://schemas.openxmlformats.org/officeDocument/2006/relationships/font"/><Relationship Id="rId29" Target="fonts/font29.fntdata" Type="http://schemas.openxmlformats.org/officeDocument/2006/relationships/font"/><Relationship Id="rId3" Target="viewProps.xml" Type="http://schemas.openxmlformats.org/officeDocument/2006/relationships/viewProps"/><Relationship Id="rId30" Target="fonts/font30.fntdata" Type="http://schemas.openxmlformats.org/officeDocument/2006/relationships/font"/><Relationship Id="rId31" Target="fonts/font31.fntdata" Type="http://schemas.openxmlformats.org/officeDocument/2006/relationships/font"/><Relationship Id="rId32" Target="fonts/font32.fntdata" Type="http://schemas.openxmlformats.org/officeDocument/2006/relationships/font"/><Relationship Id="rId33" Target="fonts/font33.fntdata" Type="http://schemas.openxmlformats.org/officeDocument/2006/relationships/font"/><Relationship Id="rId4" Target="theme/theme1.xml" Type="http://schemas.openxmlformats.org/officeDocument/2006/relationships/theme"/><Relationship Id="rId5" Target="tableStyles.xml" Type="http://schemas.openxmlformats.org/officeDocument/2006/relationships/tableStyles"/><Relationship Id="rId6" Target="slides/slide1.xml" Type="http://schemas.openxmlformats.org/officeDocument/2006/relationships/slide"/><Relationship Id="rId7" Target="slides/slide2.xml" Type="http://schemas.openxmlformats.org/officeDocument/2006/relationships/slide"/><Relationship Id="rId8" Target="slides/slide3.xml" Type="http://schemas.openxmlformats.org/officeDocument/2006/relationships/slide"/><Relationship Id="rId9" Target="slides/slide4.xml" Type="http://schemas.openxmlformats.org/officeDocument/2006/relationships/slide"/></Relationships>
</file>

<file path=ppt/slideLayouts/_rels/slideLayout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2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3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4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5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6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7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8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9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0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_rels/slideLayout11.xml.rels><?xml version="1.0" encoding="UTF-8" standalone="yes"?><Relationships xmlns="http://schemas.openxmlformats.org/package/2006/relationships"><Relationship Id="rId1" Target="../slideMasters/slideMaster1.xml" Type="http://schemas.openxmlformats.org/officeDocument/2006/relationships/slideMaster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Ovr>
    <a:masterClrMapping/>
  </p:clrMapOvr>
</p:sldLayout>
</file>

<file path=ppt/slideMasters/_rels/slideMaster1.xml.rels><?xml version="1.0" encoding="UTF-8" standalone="yes"?><Relationships xmlns="http://schemas.openxmlformats.org/package/2006/relationships"><Relationship Id="rId1" Target="../slideLayouts/slideLayout1.xml" Type="http://schemas.openxmlformats.org/officeDocument/2006/relationships/slideLayout"/><Relationship Id="rId10" Target="../slideLayouts/slideLayout10.xml" Type="http://schemas.openxmlformats.org/officeDocument/2006/relationships/slideLayout"/><Relationship Id="rId11" Target="../slideLayouts/slideLayout11.xml" Type="http://schemas.openxmlformats.org/officeDocument/2006/relationships/slideLayout"/><Relationship Id="rId12" Target="../theme/theme1.xml" Type="http://schemas.openxmlformats.org/officeDocument/2006/relationships/theme"/><Relationship Id="rId2" Target="../slideLayouts/slideLayout2.xml" Type="http://schemas.openxmlformats.org/officeDocument/2006/relationships/slideLayout"/><Relationship Id="rId3" Target="../slideLayouts/slideLayout3.xml" Type="http://schemas.openxmlformats.org/officeDocument/2006/relationships/slideLayout"/><Relationship Id="rId4" Target="../slideLayouts/slideLayout4.xml" Type="http://schemas.openxmlformats.org/officeDocument/2006/relationships/slideLayout"/><Relationship Id="rId5" Target="../slideLayouts/slideLayout5.xml" Type="http://schemas.openxmlformats.org/officeDocument/2006/relationships/slideLayout"/><Relationship Id="rId6" Target="../slideLayouts/slideLayout6.xml" Type="http://schemas.openxmlformats.org/officeDocument/2006/relationships/slideLayout"/><Relationship Id="rId7" Target="../slideLayouts/slideLayout7.xml" Type="http://schemas.openxmlformats.org/officeDocument/2006/relationships/slideLayout"/><Relationship Id="rId8" Target="../slideLayouts/slideLayout8.xml" Type="http://schemas.openxmlformats.org/officeDocument/2006/relationships/slideLayout"/><Relationship Id="rId9" Target="../slideLayouts/slideLayout9.xml" Type="http://schemas.openxmlformats.org/officeDocument/2006/relationships/slideLayout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1D8BD707-D9CF-40AE-B4C6-C98DA3205C09}" type="datetimeFigureOut">
              <a:rPr lang="en-US" smtClean="0"/>
              <a:pPr/>
              <a:t>8/1/2011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B6F15528-21DE-4FAA-801E-634DDDAF4B2B}" type="slidenum">
              <a:rPr lang="en-US" smtClean="0"/>
              <a:pPr/>
              <a:t>‹#›</a:t>
            </a:fld>
            <a:endParaRPr lang="en-US"/>
          </a:p>
        </p:txBody>
      </p:sp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2.png" Type="http://schemas.openxmlformats.org/officeDocument/2006/relationships/image"/></Relationships>
</file>

<file path=ppt/slides/_rels/slide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3.png" Type="http://schemas.openxmlformats.org/officeDocument/2006/relationships/image"/><Relationship Id="rId4" Target="../media/image4.svg" Type="http://schemas.openxmlformats.org/officeDocument/2006/relationships/image"/><Relationship Id="rId5" Target="../media/image5.png" Type="http://schemas.openxmlformats.org/officeDocument/2006/relationships/image"/><Relationship Id="rId6" Target="../media/image6.svg" Type="http://schemas.openxmlformats.org/officeDocument/2006/relationships/image"/></Relationships>
</file>

<file path=ppt/slides/_rels/slide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7.png" Type="http://schemas.openxmlformats.org/officeDocument/2006/relationships/image"/><Relationship Id="rId4" Target="../media/image8.svg" Type="http://schemas.openxmlformats.org/officeDocument/2006/relationships/image"/></Relationships>
</file>

<file path=ppt/slides/_rels/slide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9.png" Type="http://schemas.openxmlformats.org/officeDocument/2006/relationships/image"/></Relationships>
</file>

<file path=ppt/slides/_rels/slide1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0.png" Type="http://schemas.openxmlformats.org/officeDocument/2006/relationships/image"/></Relationships>
</file>

<file path=ppt/slides/_rels/slide1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3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4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5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6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7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8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/Relationships>
</file>

<file path=ppt/slides/_rels/slide19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1.png" Type="http://schemas.openxmlformats.org/officeDocument/2006/relationships/image"/></Relationships>
</file>

<file path=ppt/slides/_rels/slide20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2.png" Type="http://schemas.openxmlformats.org/officeDocument/2006/relationships/image"/><Relationship Id="rId4" Target="../media/image13.png" Type="http://schemas.openxmlformats.org/officeDocument/2006/relationships/image"/><Relationship Id="rId5" Target="../media/image14.png" Type="http://schemas.openxmlformats.org/officeDocument/2006/relationships/image"/></Relationships>
</file>

<file path=ppt/slides/_rels/slide21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5.png" Type="http://schemas.openxmlformats.org/officeDocument/2006/relationships/image"/><Relationship Id="rId4" Target="../media/image16.png" Type="http://schemas.openxmlformats.org/officeDocument/2006/relationships/image"/><Relationship Id="rId5" Target="../media/image17.png" Type="http://schemas.openxmlformats.org/officeDocument/2006/relationships/image"/><Relationship Id="rId6" Target="../media/image13.png" Type="http://schemas.openxmlformats.org/officeDocument/2006/relationships/image"/><Relationship Id="rId7" Target="../media/image14.png" Type="http://schemas.openxmlformats.org/officeDocument/2006/relationships/image"/></Relationships>
</file>

<file path=ppt/slides/_rels/slide22.xml.rels><?xml version="1.0" encoding="UTF-8" standalone="yes"?><Relationships xmlns="http://schemas.openxmlformats.org/package/2006/relationships"><Relationship Id="rId1" Target="../slideLayouts/slideLayout7.xml" Type="http://schemas.openxmlformats.org/officeDocument/2006/relationships/slideLayout"/><Relationship Id="rId2" Target="../media/image1.jpeg" Type="http://schemas.openxmlformats.org/officeDocument/2006/relationships/image"/><Relationship Id="rId3" Target="../media/image18.jpeg" Type="http://schemas.openxmlformats.org/officeDocument/2006/relationships/image"/></Relationships>
</file>

<file path=ppt/slides/slide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Freeform 3" id="3"/>
          <p:cNvSpPr/>
          <p:nvPr/>
        </p:nvSpPr>
        <p:spPr>
          <a:xfrm flipH="false" flipV="false" rot="0">
            <a:off x="236805" y="124005"/>
            <a:ext cx="2474943" cy="1027101"/>
          </a:xfrm>
          <a:custGeom>
            <a:avLst/>
            <a:gdLst/>
            <a:ahLst/>
            <a:cxnLst/>
            <a:rect r="r" b="b" t="t" l="l"/>
            <a:pathLst>
              <a:path h="1027101" w="2474943">
                <a:moveTo>
                  <a:pt x="0" y="0"/>
                </a:moveTo>
                <a:lnTo>
                  <a:pt x="2474943" y="0"/>
                </a:lnTo>
                <a:lnTo>
                  <a:pt x="2474943" y="1027101"/>
                </a:lnTo>
                <a:lnTo>
                  <a:pt x="0" y="10271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grpSp>
        <p:nvGrpSpPr>
          <p:cNvPr name="Group 4" id="4"/>
          <p:cNvGrpSpPr/>
          <p:nvPr/>
        </p:nvGrpSpPr>
        <p:grpSpPr>
          <a:xfrm rot="0">
            <a:off x="-462695" y="3949624"/>
            <a:ext cx="18750695" cy="2857500"/>
            <a:chOff x="0" y="0"/>
            <a:chExt cx="4938455" cy="752593"/>
          </a:xfrm>
        </p:grpSpPr>
        <p:sp>
          <p:nvSpPr>
            <p:cNvPr name="Freeform 5" id="5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6" id="6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7" id="7"/>
          <p:cNvSpPr txBox="true"/>
          <p:nvPr/>
        </p:nvSpPr>
        <p:spPr>
          <a:xfrm rot="0">
            <a:off x="6969339" y="4753436"/>
            <a:ext cx="10885566" cy="894428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6624"/>
              </a:lnSpc>
              <a:spcBef>
                <a:spcPct val="0"/>
              </a:spcBef>
            </a:pPr>
            <a:r>
              <a:rPr lang="en-US" sz="6624" spc="-523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Management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8677224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AGNESE MARIA CAPPARELLI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28700" y="8966251"/>
            <a:ext cx="3366096" cy="23685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079"/>
              </a:lnSpc>
              <a:spcBef>
                <a:spcPct val="0"/>
              </a:spcBef>
            </a:pPr>
            <a:r>
              <a:rPr lang="en-US" b="true" sz="1599">
                <a:solidFill>
                  <a:srgbClr val="2B2B2B"/>
                </a:solidFill>
                <a:latin typeface="Garet Bold"/>
                <a:ea typeface="Garet Bold"/>
                <a:cs typeface="Garet Bold"/>
                <a:sym typeface="Garet Bold"/>
              </a:rPr>
              <a:t>SAMUELE CERVO 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2655550" y="5695489"/>
            <a:ext cx="5199355" cy="43418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r" marL="0" indent="0" lvl="0">
              <a:lnSpc>
                <a:spcPts val="3163"/>
              </a:lnSpc>
              <a:spcBef>
                <a:spcPct val="0"/>
              </a:spcBef>
            </a:pPr>
            <a:r>
              <a:rPr lang="en-US" sz="3163" spc="-249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A DataWarehouse Design</a:t>
            </a:r>
          </a:p>
        </p:txBody>
      </p:sp>
    </p:spTree>
  </p:cSld>
  <p:clrMapOvr>
    <a:masterClrMapping/>
  </p:clrMapOvr>
</p:sld>
</file>

<file path=ppt/slides/slide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AutoShape 3" id="3"/>
          <p:cNvSpPr/>
          <p:nvPr/>
        </p:nvSpPr>
        <p:spPr>
          <a:xfrm rot="0">
            <a:off x="-585133" y="8805859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4" id="4"/>
          <p:cNvSpPr/>
          <p:nvPr/>
        </p:nvSpPr>
        <p:spPr>
          <a:xfrm rot="0">
            <a:off x="-585133" y="9334500"/>
            <a:ext cx="18873133" cy="0"/>
          </a:xfrm>
          <a:prstGeom prst="line">
            <a:avLst/>
          </a:prstGeom>
          <a:ln cap="rnd" w="9525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5" id="5"/>
          <p:cNvSpPr/>
          <p:nvPr/>
        </p:nvSpPr>
        <p:spPr>
          <a:xfrm flipV="true">
            <a:off x="864914" y="5328304"/>
            <a:ext cx="16234690" cy="9525"/>
          </a:xfrm>
          <a:prstGeom prst="line">
            <a:avLst/>
          </a:prstGeom>
          <a:ln cap="rnd" w="1905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Freeform 6" id="6"/>
          <p:cNvSpPr/>
          <p:nvPr/>
        </p:nvSpPr>
        <p:spPr>
          <a:xfrm flipH="false" flipV="false" rot="5400000">
            <a:off x="17289748" y="4734106"/>
            <a:ext cx="808109" cy="1188395"/>
          </a:xfrm>
          <a:custGeom>
            <a:avLst/>
            <a:gdLst/>
            <a:ahLst/>
            <a:cxnLst/>
            <a:rect r="r" b="b" t="t" l="l"/>
            <a:pathLst>
              <a:path h="1188395" w="808109">
                <a:moveTo>
                  <a:pt x="0" y="0"/>
                </a:moveTo>
                <a:lnTo>
                  <a:pt x="808109" y="0"/>
                </a:lnTo>
                <a:lnTo>
                  <a:pt x="808109" y="1188395"/>
                </a:lnTo>
                <a:lnTo>
                  <a:pt x="0" y="1188395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1162887"/>
            <a:ext cx="716618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we have done</a:t>
            </a:r>
          </a:p>
        </p:txBody>
      </p:sp>
      <p:grpSp>
        <p:nvGrpSpPr>
          <p:cNvPr name="Group 8" id="8"/>
          <p:cNvGrpSpPr/>
          <p:nvPr/>
        </p:nvGrpSpPr>
        <p:grpSpPr>
          <a:xfrm rot="0">
            <a:off x="131515" y="5733758"/>
            <a:ext cx="2414657" cy="1406182"/>
            <a:chOff x="0" y="0"/>
            <a:chExt cx="3219543" cy="1874910"/>
          </a:xfrm>
        </p:grpSpPr>
        <p:sp>
          <p:nvSpPr>
            <p:cNvPr name="TextBox 9" id="9"/>
            <p:cNvSpPr txBox="true"/>
            <p:nvPr/>
          </p:nvSpPr>
          <p:spPr>
            <a:xfrm rot="0">
              <a:off x="0" y="-19050"/>
              <a:ext cx="3219543" cy="4792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68"/>
                </a:lnSpc>
                <a:spcBef>
                  <a:spcPct val="0"/>
                </a:spcBef>
              </a:pPr>
              <a:r>
                <a:rPr lang="en-US" b="true" sz="228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Data gathering</a:t>
              </a:r>
            </a:p>
          </p:txBody>
        </p:sp>
        <p:sp>
          <p:nvSpPr>
            <p:cNvPr name="TextBox 10" id="10"/>
            <p:cNvSpPr txBox="true"/>
            <p:nvPr/>
          </p:nvSpPr>
          <p:spPr>
            <a:xfrm rot="0">
              <a:off x="0" y="557806"/>
              <a:ext cx="3219543" cy="1317104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12"/>
                </a:lnSpc>
                <a:spcBef>
                  <a:spcPct val="0"/>
                </a:spcBef>
              </a:pPr>
              <a:r>
                <a:rPr lang="en-US" sz="2009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Retrieving some data sources online.</a:t>
              </a: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3121438" y="3149074"/>
            <a:ext cx="2284276" cy="1832868"/>
            <a:chOff x="0" y="0"/>
            <a:chExt cx="3045701" cy="2443824"/>
          </a:xfrm>
        </p:grpSpPr>
        <p:sp>
          <p:nvSpPr>
            <p:cNvPr name="TextBox 12" id="12"/>
            <p:cNvSpPr txBox="true"/>
            <p:nvPr/>
          </p:nvSpPr>
          <p:spPr>
            <a:xfrm rot="0">
              <a:off x="0" y="-19050"/>
              <a:ext cx="3045701" cy="1006402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3056"/>
                </a:lnSpc>
                <a:spcBef>
                  <a:spcPct val="0"/>
                </a:spcBef>
              </a:pPr>
              <a:r>
                <a:rPr lang="en-US" b="true" sz="235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First ETL Processes</a:t>
              </a:r>
            </a:p>
          </p:txBody>
        </p:sp>
        <p:sp>
          <p:nvSpPr>
            <p:cNvPr name="TextBox 13" id="13"/>
            <p:cNvSpPr txBox="true"/>
            <p:nvPr/>
          </p:nvSpPr>
          <p:spPr>
            <a:xfrm rot="0">
              <a:off x="0" y="1098219"/>
              <a:ext cx="3045701" cy="1345605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689"/>
                </a:lnSpc>
                <a:spcBef>
                  <a:spcPct val="0"/>
                </a:spcBef>
              </a:pPr>
              <a:r>
                <a:rPr lang="en-US" sz="2068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Cleansing and filtering the original data</a:t>
              </a: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6251711" y="5733758"/>
            <a:ext cx="2062085" cy="1109036"/>
            <a:chOff x="0" y="0"/>
            <a:chExt cx="2749447" cy="1478715"/>
          </a:xfrm>
        </p:grpSpPr>
        <p:sp>
          <p:nvSpPr>
            <p:cNvPr name="TextBox 15" id="15"/>
            <p:cNvSpPr txBox="true"/>
            <p:nvPr/>
          </p:nvSpPr>
          <p:spPr>
            <a:xfrm rot="0">
              <a:off x="0" y="-19050"/>
              <a:ext cx="2749447" cy="96951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942"/>
                </a:lnSpc>
                <a:spcBef>
                  <a:spcPct val="0"/>
                </a:spcBef>
              </a:pPr>
              <a:r>
                <a:rPr lang="en-US" b="true" sz="2263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Conceptual Modeling</a:t>
              </a:r>
            </a:p>
          </p:txBody>
        </p:sp>
        <p:sp>
          <p:nvSpPr>
            <p:cNvPr name="TextBox 16" id="16"/>
            <p:cNvSpPr txBox="true"/>
            <p:nvPr/>
          </p:nvSpPr>
          <p:spPr>
            <a:xfrm rot="0">
              <a:off x="0" y="1066007"/>
              <a:ext cx="2749447" cy="412708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89"/>
                </a:lnSpc>
                <a:spcBef>
                  <a:spcPct val="0"/>
                </a:spcBef>
              </a:pPr>
              <a:r>
                <a:rPr lang="en-US" sz="1991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DFM Schema</a:t>
              </a: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8782273" y="3891512"/>
            <a:ext cx="2658564" cy="722540"/>
            <a:chOff x="0" y="0"/>
            <a:chExt cx="3544752" cy="963387"/>
          </a:xfrm>
        </p:grpSpPr>
        <p:sp>
          <p:nvSpPr>
            <p:cNvPr name="TextBox 18" id="18"/>
            <p:cNvSpPr txBox="true"/>
            <p:nvPr/>
          </p:nvSpPr>
          <p:spPr>
            <a:xfrm rot="0">
              <a:off x="0" y="-19050"/>
              <a:ext cx="3544752" cy="464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7"/>
                </a:lnSpc>
                <a:spcBef>
                  <a:spcPct val="0"/>
                </a:spcBef>
              </a:pPr>
              <a:r>
                <a:rPr lang="en-US" b="true" sz="222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Logical Modeling</a:t>
              </a:r>
            </a:p>
          </p:txBody>
        </p:sp>
        <p:sp>
          <p:nvSpPr>
            <p:cNvPr name="TextBox 19" id="19"/>
            <p:cNvSpPr txBox="true"/>
            <p:nvPr/>
          </p:nvSpPr>
          <p:spPr>
            <a:xfrm rot="0">
              <a:off x="0" y="548671"/>
              <a:ext cx="3544752" cy="414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40"/>
                </a:lnSpc>
                <a:spcBef>
                  <a:spcPct val="0"/>
                </a:spcBef>
              </a:pPr>
              <a:r>
                <a:rPr lang="en-US" sz="1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Snowflake Schema</a:t>
              </a:r>
            </a:p>
          </p:txBody>
        </p:sp>
      </p:grpSp>
      <p:sp>
        <p:nvSpPr>
          <p:cNvPr name="Freeform 20" id="20"/>
          <p:cNvSpPr/>
          <p:nvPr/>
        </p:nvSpPr>
        <p:spPr>
          <a:xfrm flipH="false" flipV="false" rot="0">
            <a:off x="864914" y="5137928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3" y="0"/>
                </a:lnTo>
                <a:lnTo>
                  <a:pt x="380753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3882824" y="5137928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6902001" y="5147453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9921178" y="5137928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3" y="0"/>
                </a:lnTo>
                <a:lnTo>
                  <a:pt x="380753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12940356" y="5147453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15959533" y="5147453"/>
            <a:ext cx="380752" cy="380752"/>
          </a:xfrm>
          <a:custGeom>
            <a:avLst/>
            <a:gdLst/>
            <a:ahLst/>
            <a:cxnLst/>
            <a:rect r="r" b="b" t="t" l="l"/>
            <a:pathLst>
              <a:path h="380752" w="380752">
                <a:moveTo>
                  <a:pt x="0" y="0"/>
                </a:moveTo>
                <a:lnTo>
                  <a:pt x="380752" y="0"/>
                </a:lnTo>
                <a:lnTo>
                  <a:pt x="380752" y="380752"/>
                </a:lnTo>
                <a:lnTo>
                  <a:pt x="0" y="380752"/>
                </a:lnTo>
                <a:lnTo>
                  <a:pt x="0" y="0"/>
                </a:lnTo>
                <a:close/>
              </a:path>
            </a:pathLst>
          </a:custGeom>
          <a:blipFill>
            <a:blip r:embed="rId5">
              <a:extLst>
                <a:ext uri="{96DAC541-7B7A-43D3-8B79-37D633B846F1}">
                  <asvg:svgBlip xmlns:asvg="http://schemas.microsoft.com/office/drawing/2016/SVG/main" r:embed="rId6"/>
                </a:ext>
              </a:extLst>
            </a:blip>
            <a:stretch>
              <a:fillRect l="0" t="0" r="0" b="0"/>
            </a:stretch>
          </a:blipFill>
        </p:spPr>
      </p:sp>
      <p:grpSp>
        <p:nvGrpSpPr>
          <p:cNvPr name="Group 26" id="26"/>
          <p:cNvGrpSpPr/>
          <p:nvPr/>
        </p:nvGrpSpPr>
        <p:grpSpPr>
          <a:xfrm rot="0">
            <a:off x="11801450" y="5733758"/>
            <a:ext cx="2658564" cy="722540"/>
            <a:chOff x="0" y="0"/>
            <a:chExt cx="3544752" cy="963387"/>
          </a:xfrm>
        </p:grpSpPr>
        <p:sp>
          <p:nvSpPr>
            <p:cNvPr name="TextBox 27" id="27"/>
            <p:cNvSpPr txBox="true"/>
            <p:nvPr/>
          </p:nvSpPr>
          <p:spPr>
            <a:xfrm rot="0">
              <a:off x="0" y="-19050"/>
              <a:ext cx="3544752" cy="4640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7"/>
                </a:lnSpc>
                <a:spcBef>
                  <a:spcPct val="0"/>
                </a:spcBef>
              </a:pPr>
              <a:r>
                <a:rPr lang="en-US" b="true" sz="222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ROLAP Queries</a:t>
              </a:r>
            </a:p>
          </p:txBody>
        </p:sp>
        <p:sp>
          <p:nvSpPr>
            <p:cNvPr name="TextBox 28" id="28"/>
            <p:cNvSpPr txBox="true"/>
            <p:nvPr/>
          </p:nvSpPr>
          <p:spPr>
            <a:xfrm rot="0">
              <a:off x="0" y="548671"/>
              <a:ext cx="3544752" cy="414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40"/>
                </a:lnSpc>
                <a:spcBef>
                  <a:spcPct val="0"/>
                </a:spcBef>
              </a:pPr>
              <a:r>
                <a:rPr lang="en-US" sz="1954">
                  <a:solidFill>
                    <a:srgbClr val="000000"/>
                  </a:solidFill>
                  <a:latin typeface="Garet"/>
                  <a:ea typeface="Garet"/>
                  <a:cs typeface="Garet"/>
                  <a:sym typeface="Garet"/>
                </a:rPr>
                <a:t>SQL Queries</a:t>
              </a:r>
            </a:p>
          </p:txBody>
        </p:sp>
      </p:grpSp>
      <p:grpSp>
        <p:nvGrpSpPr>
          <p:cNvPr name="Group 29" id="29"/>
          <p:cNvGrpSpPr/>
          <p:nvPr/>
        </p:nvGrpSpPr>
        <p:grpSpPr>
          <a:xfrm rot="0">
            <a:off x="14820627" y="4071808"/>
            <a:ext cx="2658564" cy="1084490"/>
            <a:chOff x="0" y="0"/>
            <a:chExt cx="3544752" cy="1445987"/>
          </a:xfrm>
        </p:grpSpPr>
        <p:sp>
          <p:nvSpPr>
            <p:cNvPr name="TextBox 30" id="30"/>
            <p:cNvSpPr txBox="true"/>
            <p:nvPr/>
          </p:nvSpPr>
          <p:spPr>
            <a:xfrm rot="0">
              <a:off x="0" y="-19050"/>
              <a:ext cx="3544752" cy="946639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887"/>
                </a:lnSpc>
                <a:spcBef>
                  <a:spcPct val="0"/>
                </a:spcBef>
              </a:pPr>
              <a:r>
                <a:rPr lang="en-US" b="true" sz="2221">
                  <a:solidFill>
                    <a:srgbClr val="000000"/>
                  </a:solidFill>
                  <a:latin typeface="Garet Bold"/>
                  <a:ea typeface="Garet Bold"/>
                  <a:cs typeface="Garet Bold"/>
                  <a:sym typeface="Garet Bold"/>
                </a:rPr>
                <a:t>Analysis with Tableau</a:t>
              </a:r>
            </a:p>
          </p:txBody>
        </p:sp>
        <p:sp>
          <p:nvSpPr>
            <p:cNvPr name="TextBox 31" id="31"/>
            <p:cNvSpPr txBox="true"/>
            <p:nvPr/>
          </p:nvSpPr>
          <p:spPr>
            <a:xfrm rot="0">
              <a:off x="0" y="1031271"/>
              <a:ext cx="3544752" cy="414716"/>
            </a:xfrm>
            <a:prstGeom prst="rect">
              <a:avLst/>
            </a:prstGeom>
          </p:spPr>
          <p:txBody>
            <a:bodyPr anchor="t" rtlCol="false" tIns="0" lIns="0" bIns="0" rIns="0">
              <a:spAutoFit/>
            </a:bodyPr>
            <a:lstStyle/>
            <a:p>
              <a:pPr algn="l" marL="0" indent="0" lvl="0">
                <a:lnSpc>
                  <a:spcPts val="2540"/>
                </a:lnSpc>
                <a:spcBef>
                  <a:spcPct val="0"/>
                </a:spcBef>
              </a:pPr>
            </a:p>
          </p:txBody>
        </p:sp>
      </p:grpSp>
      <p:grpSp>
        <p:nvGrpSpPr>
          <p:cNvPr name="Group 32" id="32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33" id="33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34" id="34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35" id="35"/>
          <p:cNvSpPr txBox="true"/>
          <p:nvPr/>
        </p:nvSpPr>
        <p:spPr>
          <a:xfrm rot="0">
            <a:off x="1028700" y="695325"/>
            <a:ext cx="7059513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What we have done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1093358" y="1371888"/>
            <a:ext cx="33593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Project Timeline</a:t>
            </a:r>
          </a:p>
        </p:txBody>
      </p:sp>
    </p:spTree>
  </p:cSld>
  <p:clrMapOvr>
    <a:masterClrMapping/>
  </p:clrMapOvr>
  <p:transition spd="fast">
    <p:fade/>
  </p:transition>
</p:sld>
</file>

<file path=ppt/slides/slide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sp>
        <p:nvSpPr>
          <p:cNvPr name="TextBox 3" id="3"/>
          <p:cNvSpPr txBox="true"/>
          <p:nvPr/>
        </p:nvSpPr>
        <p:spPr>
          <a:xfrm rot="0">
            <a:off x="2392846" y="3231904"/>
            <a:ext cx="172689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covid_cases</a:t>
            </a:r>
          </a:p>
        </p:txBody>
      </p:sp>
      <p:sp>
        <p:nvSpPr>
          <p:cNvPr name="TextBox 4" id="4"/>
          <p:cNvSpPr txBox="true"/>
          <p:nvPr/>
        </p:nvSpPr>
        <p:spPr>
          <a:xfrm rot="0">
            <a:off x="2434063" y="4585132"/>
            <a:ext cx="1726892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regions</a:t>
            </a:r>
          </a:p>
        </p:txBody>
      </p:sp>
      <p:grpSp>
        <p:nvGrpSpPr>
          <p:cNvPr name="Group 5" id="5"/>
          <p:cNvGrpSpPr/>
          <p:nvPr/>
        </p:nvGrpSpPr>
        <p:grpSpPr>
          <a:xfrm rot="0">
            <a:off x="2313528" y="5816135"/>
            <a:ext cx="2619530" cy="483371"/>
            <a:chOff x="0" y="0"/>
            <a:chExt cx="999248" cy="184363"/>
          </a:xfrm>
        </p:grpSpPr>
        <p:sp>
          <p:nvSpPr>
            <p:cNvPr name="Freeform 6" id="6"/>
            <p:cNvSpPr/>
            <p:nvPr/>
          </p:nvSpPr>
          <p:spPr>
            <a:xfrm flipH="false" flipV="false" rot="0">
              <a:off x="0" y="0"/>
              <a:ext cx="999248" cy="184363"/>
            </a:xfrm>
            <a:custGeom>
              <a:avLst/>
              <a:gdLst/>
              <a:ahLst/>
              <a:cxnLst/>
              <a:rect r="r" b="b" t="t" l="l"/>
              <a:pathLst>
                <a:path h="184363" w="999248">
                  <a:moveTo>
                    <a:pt x="999248" y="59109"/>
                  </a:moveTo>
                  <a:lnTo>
                    <a:pt x="999248" y="125254"/>
                  </a:lnTo>
                  <a:cubicBezTo>
                    <a:pt x="999248" y="140931"/>
                    <a:pt x="993021" y="155965"/>
                    <a:pt x="981936" y="167050"/>
                  </a:cubicBezTo>
                  <a:cubicBezTo>
                    <a:pt x="970850" y="178135"/>
                    <a:pt x="955816" y="184363"/>
                    <a:pt x="940139" y="184363"/>
                  </a:cubicBezTo>
                  <a:lnTo>
                    <a:pt x="59109" y="184363"/>
                  </a:lnTo>
                  <a:cubicBezTo>
                    <a:pt x="26464" y="184363"/>
                    <a:pt x="0" y="157899"/>
                    <a:pt x="0" y="125254"/>
                  </a:cubicBezTo>
                  <a:lnTo>
                    <a:pt x="0" y="59109"/>
                  </a:lnTo>
                  <a:cubicBezTo>
                    <a:pt x="0" y="43432"/>
                    <a:pt x="6228" y="28398"/>
                    <a:pt x="17313" y="17313"/>
                  </a:cubicBezTo>
                  <a:cubicBezTo>
                    <a:pt x="28398" y="6228"/>
                    <a:pt x="43432" y="0"/>
                    <a:pt x="59109" y="0"/>
                  </a:cubicBezTo>
                  <a:lnTo>
                    <a:pt x="940139" y="0"/>
                  </a:lnTo>
                  <a:cubicBezTo>
                    <a:pt x="955816" y="0"/>
                    <a:pt x="970850" y="6228"/>
                    <a:pt x="981936" y="17313"/>
                  </a:cubicBezTo>
                  <a:cubicBezTo>
                    <a:pt x="993021" y="28398"/>
                    <a:pt x="999248" y="43432"/>
                    <a:pt x="999248" y="5910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7" id="7"/>
            <p:cNvSpPr txBox="true"/>
            <p:nvPr/>
          </p:nvSpPr>
          <p:spPr>
            <a:xfrm>
              <a:off x="0" y="-47625"/>
              <a:ext cx="999248" cy="23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</a:p>
          </p:txBody>
        </p:sp>
      </p:grpSp>
      <p:grpSp>
        <p:nvGrpSpPr>
          <p:cNvPr name="Group 8" id="8"/>
          <p:cNvGrpSpPr/>
          <p:nvPr/>
        </p:nvGrpSpPr>
        <p:grpSpPr>
          <a:xfrm rot="0">
            <a:off x="2313528" y="7084010"/>
            <a:ext cx="2619530" cy="483371"/>
            <a:chOff x="0" y="0"/>
            <a:chExt cx="999248" cy="184363"/>
          </a:xfrm>
        </p:grpSpPr>
        <p:sp>
          <p:nvSpPr>
            <p:cNvPr name="Freeform 9" id="9"/>
            <p:cNvSpPr/>
            <p:nvPr/>
          </p:nvSpPr>
          <p:spPr>
            <a:xfrm flipH="false" flipV="false" rot="0">
              <a:off x="0" y="0"/>
              <a:ext cx="999248" cy="184363"/>
            </a:xfrm>
            <a:custGeom>
              <a:avLst/>
              <a:gdLst/>
              <a:ahLst/>
              <a:cxnLst/>
              <a:rect r="r" b="b" t="t" l="l"/>
              <a:pathLst>
                <a:path h="184363" w="999248">
                  <a:moveTo>
                    <a:pt x="999248" y="59109"/>
                  </a:moveTo>
                  <a:lnTo>
                    <a:pt x="999248" y="125254"/>
                  </a:lnTo>
                  <a:cubicBezTo>
                    <a:pt x="999248" y="140931"/>
                    <a:pt x="993021" y="155965"/>
                    <a:pt x="981936" y="167050"/>
                  </a:cubicBezTo>
                  <a:cubicBezTo>
                    <a:pt x="970850" y="178135"/>
                    <a:pt x="955816" y="184363"/>
                    <a:pt x="940139" y="184363"/>
                  </a:cubicBezTo>
                  <a:lnTo>
                    <a:pt x="59109" y="184363"/>
                  </a:lnTo>
                  <a:cubicBezTo>
                    <a:pt x="26464" y="184363"/>
                    <a:pt x="0" y="157899"/>
                    <a:pt x="0" y="125254"/>
                  </a:cubicBezTo>
                  <a:lnTo>
                    <a:pt x="0" y="59109"/>
                  </a:lnTo>
                  <a:cubicBezTo>
                    <a:pt x="0" y="43432"/>
                    <a:pt x="6228" y="28398"/>
                    <a:pt x="17313" y="17313"/>
                  </a:cubicBezTo>
                  <a:cubicBezTo>
                    <a:pt x="28398" y="6228"/>
                    <a:pt x="43432" y="0"/>
                    <a:pt x="59109" y="0"/>
                  </a:cubicBezTo>
                  <a:lnTo>
                    <a:pt x="940139" y="0"/>
                  </a:lnTo>
                  <a:cubicBezTo>
                    <a:pt x="955816" y="0"/>
                    <a:pt x="970850" y="6228"/>
                    <a:pt x="981936" y="17313"/>
                  </a:cubicBezTo>
                  <a:cubicBezTo>
                    <a:pt x="993021" y="28398"/>
                    <a:pt x="999248" y="43432"/>
                    <a:pt x="999248" y="5910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0" id="10"/>
            <p:cNvSpPr txBox="true"/>
            <p:nvPr/>
          </p:nvSpPr>
          <p:spPr>
            <a:xfrm>
              <a:off x="0" y="-47625"/>
              <a:ext cx="999248" cy="23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</a:p>
          </p:txBody>
        </p:sp>
      </p:grpSp>
      <p:grpSp>
        <p:nvGrpSpPr>
          <p:cNvPr name="Group 11" id="11"/>
          <p:cNvGrpSpPr/>
          <p:nvPr/>
        </p:nvGrpSpPr>
        <p:grpSpPr>
          <a:xfrm rot="0">
            <a:off x="2272311" y="8351886"/>
            <a:ext cx="2619530" cy="483371"/>
            <a:chOff x="0" y="0"/>
            <a:chExt cx="999248" cy="184363"/>
          </a:xfrm>
        </p:grpSpPr>
        <p:sp>
          <p:nvSpPr>
            <p:cNvPr name="Freeform 12" id="12"/>
            <p:cNvSpPr/>
            <p:nvPr/>
          </p:nvSpPr>
          <p:spPr>
            <a:xfrm flipH="false" flipV="false" rot="0">
              <a:off x="0" y="0"/>
              <a:ext cx="999248" cy="184363"/>
            </a:xfrm>
            <a:custGeom>
              <a:avLst/>
              <a:gdLst/>
              <a:ahLst/>
              <a:cxnLst/>
              <a:rect r="r" b="b" t="t" l="l"/>
              <a:pathLst>
                <a:path h="184363" w="999248">
                  <a:moveTo>
                    <a:pt x="999248" y="59109"/>
                  </a:moveTo>
                  <a:lnTo>
                    <a:pt x="999248" y="125254"/>
                  </a:lnTo>
                  <a:cubicBezTo>
                    <a:pt x="999248" y="140931"/>
                    <a:pt x="993021" y="155965"/>
                    <a:pt x="981936" y="167050"/>
                  </a:cubicBezTo>
                  <a:cubicBezTo>
                    <a:pt x="970850" y="178135"/>
                    <a:pt x="955816" y="184363"/>
                    <a:pt x="940139" y="184363"/>
                  </a:cubicBezTo>
                  <a:lnTo>
                    <a:pt x="59109" y="184363"/>
                  </a:lnTo>
                  <a:cubicBezTo>
                    <a:pt x="26464" y="184363"/>
                    <a:pt x="0" y="157899"/>
                    <a:pt x="0" y="125254"/>
                  </a:cubicBezTo>
                  <a:lnTo>
                    <a:pt x="0" y="59109"/>
                  </a:lnTo>
                  <a:cubicBezTo>
                    <a:pt x="0" y="43432"/>
                    <a:pt x="6228" y="28398"/>
                    <a:pt x="17313" y="17313"/>
                  </a:cubicBezTo>
                  <a:cubicBezTo>
                    <a:pt x="28398" y="6228"/>
                    <a:pt x="43432" y="0"/>
                    <a:pt x="59109" y="0"/>
                  </a:cubicBezTo>
                  <a:lnTo>
                    <a:pt x="940139" y="0"/>
                  </a:lnTo>
                  <a:cubicBezTo>
                    <a:pt x="955816" y="0"/>
                    <a:pt x="970850" y="6228"/>
                    <a:pt x="981936" y="17313"/>
                  </a:cubicBezTo>
                  <a:cubicBezTo>
                    <a:pt x="993021" y="28398"/>
                    <a:pt x="999248" y="43432"/>
                    <a:pt x="999248" y="5910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3" id="13"/>
            <p:cNvSpPr txBox="true"/>
            <p:nvPr/>
          </p:nvSpPr>
          <p:spPr>
            <a:xfrm>
              <a:off x="0" y="-47625"/>
              <a:ext cx="999248" cy="23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</a:p>
          </p:txBody>
        </p:sp>
      </p:grpSp>
      <p:grpSp>
        <p:nvGrpSpPr>
          <p:cNvPr name="Group 14" id="14"/>
          <p:cNvGrpSpPr/>
          <p:nvPr/>
        </p:nvGrpSpPr>
        <p:grpSpPr>
          <a:xfrm rot="0">
            <a:off x="2275428" y="4558156"/>
            <a:ext cx="2619530" cy="483371"/>
            <a:chOff x="0" y="0"/>
            <a:chExt cx="999248" cy="184363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999248" cy="184363"/>
            </a:xfrm>
            <a:custGeom>
              <a:avLst/>
              <a:gdLst/>
              <a:ahLst/>
              <a:cxnLst/>
              <a:rect r="r" b="b" t="t" l="l"/>
              <a:pathLst>
                <a:path h="184363" w="999248">
                  <a:moveTo>
                    <a:pt x="999248" y="59109"/>
                  </a:moveTo>
                  <a:lnTo>
                    <a:pt x="999248" y="125254"/>
                  </a:lnTo>
                  <a:cubicBezTo>
                    <a:pt x="999248" y="140931"/>
                    <a:pt x="993021" y="155965"/>
                    <a:pt x="981936" y="167050"/>
                  </a:cubicBezTo>
                  <a:cubicBezTo>
                    <a:pt x="970850" y="178135"/>
                    <a:pt x="955816" y="184363"/>
                    <a:pt x="940139" y="184363"/>
                  </a:cubicBezTo>
                  <a:lnTo>
                    <a:pt x="59109" y="184363"/>
                  </a:lnTo>
                  <a:cubicBezTo>
                    <a:pt x="26464" y="184363"/>
                    <a:pt x="0" y="157899"/>
                    <a:pt x="0" y="125254"/>
                  </a:cubicBezTo>
                  <a:lnTo>
                    <a:pt x="0" y="59109"/>
                  </a:lnTo>
                  <a:cubicBezTo>
                    <a:pt x="0" y="43432"/>
                    <a:pt x="6228" y="28398"/>
                    <a:pt x="17313" y="17313"/>
                  </a:cubicBezTo>
                  <a:cubicBezTo>
                    <a:pt x="28398" y="6228"/>
                    <a:pt x="43432" y="0"/>
                    <a:pt x="59109" y="0"/>
                  </a:cubicBezTo>
                  <a:lnTo>
                    <a:pt x="940139" y="0"/>
                  </a:lnTo>
                  <a:cubicBezTo>
                    <a:pt x="955816" y="0"/>
                    <a:pt x="970850" y="6228"/>
                    <a:pt x="981936" y="17313"/>
                  </a:cubicBezTo>
                  <a:cubicBezTo>
                    <a:pt x="993021" y="28398"/>
                    <a:pt x="999248" y="43432"/>
                    <a:pt x="999248" y="5910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999248" cy="23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</a:p>
          </p:txBody>
        </p:sp>
      </p:grpSp>
      <p:grpSp>
        <p:nvGrpSpPr>
          <p:cNvPr name="Group 17" id="17"/>
          <p:cNvGrpSpPr/>
          <p:nvPr/>
        </p:nvGrpSpPr>
        <p:grpSpPr>
          <a:xfrm rot="0">
            <a:off x="2234211" y="3204498"/>
            <a:ext cx="2619530" cy="483371"/>
            <a:chOff x="0" y="0"/>
            <a:chExt cx="999248" cy="184363"/>
          </a:xfrm>
        </p:grpSpPr>
        <p:sp>
          <p:nvSpPr>
            <p:cNvPr name="Freeform 18" id="18"/>
            <p:cNvSpPr/>
            <p:nvPr/>
          </p:nvSpPr>
          <p:spPr>
            <a:xfrm flipH="false" flipV="false" rot="0">
              <a:off x="0" y="0"/>
              <a:ext cx="999248" cy="184363"/>
            </a:xfrm>
            <a:custGeom>
              <a:avLst/>
              <a:gdLst/>
              <a:ahLst/>
              <a:cxnLst/>
              <a:rect r="r" b="b" t="t" l="l"/>
              <a:pathLst>
                <a:path h="184363" w="999248">
                  <a:moveTo>
                    <a:pt x="999248" y="59109"/>
                  </a:moveTo>
                  <a:lnTo>
                    <a:pt x="999248" y="125254"/>
                  </a:lnTo>
                  <a:cubicBezTo>
                    <a:pt x="999248" y="140931"/>
                    <a:pt x="993021" y="155965"/>
                    <a:pt x="981936" y="167050"/>
                  </a:cubicBezTo>
                  <a:cubicBezTo>
                    <a:pt x="970850" y="178135"/>
                    <a:pt x="955816" y="184363"/>
                    <a:pt x="940139" y="184363"/>
                  </a:cubicBezTo>
                  <a:lnTo>
                    <a:pt x="59109" y="184363"/>
                  </a:lnTo>
                  <a:cubicBezTo>
                    <a:pt x="26464" y="184363"/>
                    <a:pt x="0" y="157899"/>
                    <a:pt x="0" y="125254"/>
                  </a:cubicBezTo>
                  <a:lnTo>
                    <a:pt x="0" y="59109"/>
                  </a:lnTo>
                  <a:cubicBezTo>
                    <a:pt x="0" y="43432"/>
                    <a:pt x="6228" y="28398"/>
                    <a:pt x="17313" y="17313"/>
                  </a:cubicBezTo>
                  <a:cubicBezTo>
                    <a:pt x="28398" y="6228"/>
                    <a:pt x="43432" y="0"/>
                    <a:pt x="59109" y="0"/>
                  </a:cubicBezTo>
                  <a:lnTo>
                    <a:pt x="940139" y="0"/>
                  </a:lnTo>
                  <a:cubicBezTo>
                    <a:pt x="955816" y="0"/>
                    <a:pt x="970850" y="6228"/>
                    <a:pt x="981936" y="17313"/>
                  </a:cubicBezTo>
                  <a:cubicBezTo>
                    <a:pt x="993021" y="28398"/>
                    <a:pt x="999248" y="43432"/>
                    <a:pt x="999248" y="59109"/>
                  </a:cubicBezTo>
                  <a:close/>
                </a:path>
              </a:pathLst>
            </a:custGeom>
            <a:solidFill>
              <a:srgbClr val="000000">
                <a:alpha val="0"/>
              </a:srgbClr>
            </a:solidFill>
            <a:ln w="19050" cap="sq">
              <a:solidFill>
                <a:srgbClr val="000000"/>
              </a:solidFill>
              <a:prstDash val="solid"/>
              <a:miter/>
            </a:ln>
          </p:spPr>
        </p:sp>
        <p:sp>
          <p:nvSpPr>
            <p:cNvPr name="TextBox 19" id="19"/>
            <p:cNvSpPr txBox="true"/>
            <p:nvPr/>
          </p:nvSpPr>
          <p:spPr>
            <a:xfrm>
              <a:off x="0" y="-47625"/>
              <a:ext cx="999248" cy="23198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just">
                <a:lnSpc>
                  <a:spcPts val="2939"/>
                </a:lnSpc>
              </a:pPr>
            </a:p>
          </p:txBody>
        </p:sp>
      </p:grpSp>
      <p:sp>
        <p:nvSpPr>
          <p:cNvPr name="AutoShape 20" id="20"/>
          <p:cNvSpPr/>
          <p:nvPr/>
        </p:nvSpPr>
        <p:spPr>
          <a:xfrm>
            <a:off x="4933058" y="3419546"/>
            <a:ext cx="4951797" cy="19050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1" id="21"/>
          <p:cNvSpPr/>
          <p:nvPr/>
        </p:nvSpPr>
        <p:spPr>
          <a:xfrm>
            <a:off x="4975437" y="4782300"/>
            <a:ext cx="4951797" cy="19050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2" id="22"/>
          <p:cNvSpPr/>
          <p:nvPr/>
        </p:nvSpPr>
        <p:spPr>
          <a:xfrm>
            <a:off x="4984962" y="6019720"/>
            <a:ext cx="4951797" cy="19050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3" id="23"/>
          <p:cNvSpPr/>
          <p:nvPr/>
        </p:nvSpPr>
        <p:spPr>
          <a:xfrm>
            <a:off x="4985036" y="7282904"/>
            <a:ext cx="4951797" cy="19050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sp>
        <p:nvSpPr>
          <p:cNvPr name="AutoShape 24" id="24"/>
          <p:cNvSpPr/>
          <p:nvPr/>
        </p:nvSpPr>
        <p:spPr>
          <a:xfrm>
            <a:off x="4997334" y="8612622"/>
            <a:ext cx="4951797" cy="19050"/>
          </a:xfrm>
          <a:prstGeom prst="line">
            <a:avLst/>
          </a:prstGeom>
          <a:ln cap="flat" w="19050">
            <a:solidFill>
              <a:srgbClr val="000000"/>
            </a:solidFill>
            <a:prstDash val="sysDash"/>
            <a:headEnd type="none" len="sm" w="sm"/>
            <a:tailEnd type="none" len="sm" w="sm"/>
          </a:ln>
        </p:spPr>
      </p:sp>
      <p:grpSp>
        <p:nvGrpSpPr>
          <p:cNvPr name="Group 25" id="25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26" id="26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27" id="27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28" id="28"/>
          <p:cNvSpPr txBox="true"/>
          <p:nvPr/>
        </p:nvSpPr>
        <p:spPr>
          <a:xfrm rot="0">
            <a:off x="2446694" y="3685031"/>
            <a:ext cx="10972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DPC</a:t>
            </a:r>
          </a:p>
        </p:txBody>
      </p:sp>
      <p:sp>
        <p:nvSpPr>
          <p:cNvPr name="TextBox 29" id="29"/>
          <p:cNvSpPr txBox="true"/>
          <p:nvPr/>
        </p:nvSpPr>
        <p:spPr>
          <a:xfrm rot="0">
            <a:off x="1028700" y="695325"/>
            <a:ext cx="568014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Data Gathering</a:t>
            </a:r>
          </a:p>
        </p:txBody>
      </p:sp>
      <p:sp>
        <p:nvSpPr>
          <p:cNvPr name="TextBox 30" id="30"/>
          <p:cNvSpPr txBox="true"/>
          <p:nvPr/>
        </p:nvSpPr>
        <p:spPr>
          <a:xfrm rot="0">
            <a:off x="1093358" y="1371888"/>
            <a:ext cx="335934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Different data sources  </a:t>
            </a:r>
          </a:p>
        </p:txBody>
      </p:sp>
      <p:sp>
        <p:nvSpPr>
          <p:cNvPr name="TextBox 31" id="31"/>
          <p:cNvSpPr txBox="true"/>
          <p:nvPr/>
        </p:nvSpPr>
        <p:spPr>
          <a:xfrm rot="0">
            <a:off x="10054623" y="3241429"/>
            <a:ext cx="6517908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informations about covid cases, hospedalizations, new positives, swabs and other data during covid period per regions and date.</a:t>
            </a:r>
          </a:p>
        </p:txBody>
      </p:sp>
      <p:sp>
        <p:nvSpPr>
          <p:cNvPr name="TextBox 32" id="32"/>
          <p:cNvSpPr txBox="true"/>
          <p:nvPr/>
        </p:nvSpPr>
        <p:spPr>
          <a:xfrm rot="0">
            <a:off x="10054623" y="4594657"/>
            <a:ext cx="6517908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that contains regions name, region_code and region_abbreviation</a:t>
            </a:r>
          </a:p>
        </p:txBody>
      </p:sp>
      <p:sp>
        <p:nvSpPr>
          <p:cNvPr name="TextBox 33" id="33"/>
          <p:cNvSpPr txBox="true"/>
          <p:nvPr/>
        </p:nvSpPr>
        <p:spPr>
          <a:xfrm rot="0">
            <a:off x="10022558" y="5851762"/>
            <a:ext cx="670285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information about population per regions, divided by males, females in the year 20XX</a:t>
            </a:r>
          </a:p>
        </p:txBody>
      </p:sp>
      <p:sp>
        <p:nvSpPr>
          <p:cNvPr name="TextBox 34" id="34"/>
          <p:cNvSpPr txBox="true"/>
          <p:nvPr/>
        </p:nvSpPr>
        <p:spPr>
          <a:xfrm rot="0">
            <a:off x="10054623" y="7063430"/>
            <a:ext cx="6702851" cy="10445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that contains information about vaccination during the covid period divided by age range, males, females, vaccine name, region and date</a:t>
            </a:r>
          </a:p>
        </p:txBody>
      </p:sp>
      <p:sp>
        <p:nvSpPr>
          <p:cNvPr name="TextBox 35" id="35"/>
          <p:cNvSpPr txBox="true"/>
          <p:nvPr/>
        </p:nvSpPr>
        <p:spPr>
          <a:xfrm rot="0">
            <a:off x="10054623" y="8427728"/>
            <a:ext cx="6702851" cy="69215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informations about every single vaccine, like supplier, name and technology</a:t>
            </a:r>
          </a:p>
        </p:txBody>
      </p:sp>
      <p:sp>
        <p:nvSpPr>
          <p:cNvPr name="TextBox 36" id="36"/>
          <p:cNvSpPr txBox="true"/>
          <p:nvPr/>
        </p:nvSpPr>
        <p:spPr>
          <a:xfrm rot="0">
            <a:off x="2434063" y="5022047"/>
            <a:ext cx="10972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ISTAT</a:t>
            </a:r>
          </a:p>
        </p:txBody>
      </p:sp>
      <p:sp>
        <p:nvSpPr>
          <p:cNvPr name="TextBox 37" id="37"/>
          <p:cNvSpPr txBox="true"/>
          <p:nvPr/>
        </p:nvSpPr>
        <p:spPr>
          <a:xfrm rot="0">
            <a:off x="2472163" y="6289980"/>
            <a:ext cx="1097281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ISTAT</a:t>
            </a:r>
          </a:p>
        </p:txBody>
      </p:sp>
      <p:sp>
        <p:nvSpPr>
          <p:cNvPr name="TextBox 38" id="38"/>
          <p:cNvSpPr txBox="true"/>
          <p:nvPr/>
        </p:nvSpPr>
        <p:spPr>
          <a:xfrm rot="0">
            <a:off x="2434063" y="5851127"/>
            <a:ext cx="241967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population20XX</a:t>
            </a:r>
          </a:p>
        </p:txBody>
      </p:sp>
      <p:sp>
        <p:nvSpPr>
          <p:cNvPr name="TextBox 39" id="39"/>
          <p:cNvSpPr txBox="true"/>
          <p:nvPr/>
        </p:nvSpPr>
        <p:spPr>
          <a:xfrm rot="0">
            <a:off x="2472163" y="7566667"/>
            <a:ext cx="1523184" cy="33972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800"/>
              </a:lnSpc>
            </a:pPr>
            <a:r>
              <a:rPr lang="en-US" sz="200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OpenData</a:t>
            </a:r>
          </a:p>
        </p:txBody>
      </p:sp>
      <p:sp>
        <p:nvSpPr>
          <p:cNvPr name="TextBox 40" id="40"/>
          <p:cNvSpPr txBox="true"/>
          <p:nvPr/>
        </p:nvSpPr>
        <p:spPr>
          <a:xfrm rot="0">
            <a:off x="2472163" y="7114311"/>
            <a:ext cx="2072947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vaccinations</a:t>
            </a:r>
          </a:p>
        </p:txBody>
      </p:sp>
      <p:sp>
        <p:nvSpPr>
          <p:cNvPr name="TextBox 41" id="41"/>
          <p:cNvSpPr txBox="true"/>
          <p:nvPr/>
        </p:nvSpPr>
        <p:spPr>
          <a:xfrm rot="0">
            <a:off x="2430946" y="8388817"/>
            <a:ext cx="228847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just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Garet Bold"/>
                <a:ea typeface="Garet Bold"/>
                <a:cs typeface="Garet Bold"/>
                <a:sym typeface="Garet Bold"/>
              </a:rPr>
              <a:t>vaccines</a:t>
            </a:r>
          </a:p>
        </p:txBody>
      </p:sp>
      <p:sp>
        <p:nvSpPr>
          <p:cNvPr name="TextBox 42" id="42"/>
          <p:cNvSpPr txBox="true"/>
          <p:nvPr/>
        </p:nvSpPr>
        <p:spPr>
          <a:xfrm rot="0">
            <a:off x="2472163" y="8835257"/>
            <a:ext cx="2247256" cy="32012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18"/>
              </a:lnSpc>
            </a:pPr>
            <a:r>
              <a:rPr lang="en-US" sz="1870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GitHub OpenData</a:t>
            </a:r>
          </a:p>
        </p:txBody>
      </p:sp>
    </p:spTree>
  </p:cSld>
  <p:clrMapOvr>
    <a:masterClrMapping/>
  </p:clrMapOvr>
  <p:transition spd="slow">
    <p:push dir="l"/>
  </p:transition>
</p:sld>
</file>

<file path=ppt/slides/slide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2869" y="6377653"/>
          <a:ext cx="18235131" cy="3335678"/>
        </p:xfrm>
        <a:graphic>
          <a:graphicData uri="http://schemas.openxmlformats.org/drawingml/2006/table">
            <a:tbl>
              <a:tblPr/>
              <a:tblGrid>
                <a:gridCol w="1782127"/>
                <a:gridCol w="1782127"/>
                <a:gridCol w="1782127"/>
                <a:gridCol w="1782127"/>
                <a:gridCol w="1674138"/>
                <a:gridCol w="1976507"/>
                <a:gridCol w="1804294"/>
                <a:gridCol w="2116377"/>
                <a:gridCol w="1757273"/>
                <a:gridCol w="1778036"/>
              </a:tblGrid>
              <a:tr h="11003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country_code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latitude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logitude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hospitalized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intensitive_care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total_hospitalized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home_isolation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total_positives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variation_total_positive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new_positives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recovered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deceased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suspected_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cases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screaning_cases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intensitive_care_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admission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positive_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molecular_test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positive_rapid_antigen_test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molecular_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swabs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rapid_antigen_swabs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nuts1_code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nuts2_code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test_notes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case_notes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972"/>
                        </a:lnSpc>
                        <a:defRPr/>
                      </a:pPr>
                      <a:r>
                        <a:rPr lang="en-US" sz="17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swabs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tested_cases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5556979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95325"/>
            <a:ext cx="568014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ETL Process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3358" y="1371888"/>
            <a:ext cx="472794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covid_cases (Dataset from DPC)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358" y="2638697"/>
            <a:ext cx="14143903" cy="7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Cleansing and integratio in phases of the original data were made through Python scripts.</a:t>
            </a:r>
          </a:p>
          <a:p>
            <a:pPr algn="l" marL="0" indent="0" lvl="0">
              <a:lnSpc>
                <a:spcPts val="2899"/>
              </a:lnSpc>
              <a:spcBef>
                <a:spcPct val="0"/>
              </a:spcBef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Below there are detailed operations performed on each of the csv files.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4708" y="3731924"/>
            <a:ext cx="14143903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Renamed coloumns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Replaced date from time code to yy/mm/dd 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Uniformed region_code field with a 2 characters string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Filtered unnecessary coloumns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Uniformed empty fields with 0 and null values.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282725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99051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96211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656636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78459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899051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96211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656636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78459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020874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18035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78459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629085" y="7512529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144000" y="7512529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282725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282725" y="8580731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488212" y="8580731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752910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60458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8007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75349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60458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push dir="l"/>
  </p:transition>
</p:sld>
</file>

<file path=ppt/slides/slide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1761426" y="6878984"/>
          <a:ext cx="14765147" cy="1125878"/>
        </p:xfrm>
        <a:graphic>
          <a:graphicData uri="http://schemas.openxmlformats.org/drawingml/2006/table">
            <a:tbl>
              <a:tblPr/>
              <a:tblGrid>
                <a:gridCol w="3691287"/>
                <a:gridCol w="3691287"/>
                <a:gridCol w="3691287"/>
                <a:gridCol w="3691287"/>
              </a:tblGrid>
              <a:tr h="928527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year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sex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population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695325"/>
            <a:ext cx="568014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ETL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358" y="1371888"/>
            <a:ext cx="8077076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population20XX (6 dataset from 2019 to 2024 from ISTAT)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3358" y="2638697"/>
            <a:ext cx="14143903" cy="7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Cleansing and integratio in phases of the original data were made through Python scripts.</a:t>
            </a:r>
          </a:p>
          <a:p>
            <a:pPr algn="l" marL="0" indent="0" lvl="0">
              <a:lnSpc>
                <a:spcPts val="2899"/>
              </a:lnSpc>
              <a:spcBef>
                <a:spcPct val="0"/>
              </a:spcBef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Below there are detailed operations performed on each of the csv files.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74708" y="3731924"/>
            <a:ext cx="14143903" cy="110871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Renamed coloumns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Union the 6 dataset in one dataset grouped by year and region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2773444" y="6809190"/>
          <a:ext cx="12741113" cy="1198839"/>
        </p:xfrm>
        <a:graphic>
          <a:graphicData uri="http://schemas.openxmlformats.org/drawingml/2006/table">
            <a:tbl>
              <a:tblPr/>
              <a:tblGrid>
                <a:gridCol w="4446507"/>
                <a:gridCol w="4007618"/>
                <a:gridCol w="4286988"/>
              </a:tblGrid>
              <a:tr h="988699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region_name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2435"/>
                        </a:lnSpc>
                        <a:defRPr/>
                      </a:pPr>
                      <a:r>
                        <a:rPr lang="en-US" sz="2099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region_abbr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TextBox 7" id="7"/>
          <p:cNvSpPr txBox="true"/>
          <p:nvPr/>
        </p:nvSpPr>
        <p:spPr>
          <a:xfrm rot="0">
            <a:off x="1028700" y="695325"/>
            <a:ext cx="568014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ETL Process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93358" y="1371888"/>
            <a:ext cx="472794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covid_cases (Dataset from DPC)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3358" y="2380419"/>
            <a:ext cx="14143903" cy="7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Cleansing and integratio in phases of the original data were made through Python scripts.</a:t>
            </a:r>
          </a:p>
          <a:p>
            <a:pPr algn="l" marL="0" indent="0" lvl="0">
              <a:lnSpc>
                <a:spcPts val="2899"/>
              </a:lnSpc>
              <a:spcBef>
                <a:spcPct val="0"/>
              </a:spcBef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Below there are detailed operations performed on each of the csv files.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638228" y="3984503"/>
            <a:ext cx="14143903" cy="7372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Renamed coloumns 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slow">
    <p:fade/>
  </p:transition>
</p:sld>
</file>

<file path=ppt/slides/slide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aphicFrame>
        <p:nvGraphicFramePr>
          <p:cNvPr name="Table 6" id="6"/>
          <p:cNvGraphicFramePr>
            <a:graphicFrameLocks noGrp="true"/>
          </p:cNvGraphicFramePr>
          <p:nvPr/>
        </p:nvGraphicFramePr>
        <p:xfrm>
          <a:off x="52869" y="6377653"/>
          <a:ext cx="18235131" cy="3335678"/>
        </p:xfrm>
        <a:graphic>
          <a:graphicData uri="http://schemas.openxmlformats.org/drawingml/2006/table">
            <a:tbl>
              <a:tblPr/>
              <a:tblGrid>
                <a:gridCol w="1782127"/>
                <a:gridCol w="1782127"/>
                <a:gridCol w="1782127"/>
                <a:gridCol w="1782127"/>
                <a:gridCol w="1674138"/>
                <a:gridCol w="1976507"/>
                <a:gridCol w="1804294"/>
                <a:gridCol w="2116377"/>
                <a:gridCol w="1757273"/>
                <a:gridCol w="1778036"/>
              </a:tblGrid>
              <a:tr h="110034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date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country_code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region_code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latitude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logitude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hospitalized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intensitive_care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total_hospitalized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home_isolation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total_positives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variation_total_positive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new_positives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recovered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deceased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suspected_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cases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screaning_cases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total_cases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intensitive_care_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admission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positive_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molecular_test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positive_rapid_antigen_test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1117666"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molecular_</a:t>
                      </a:r>
                      <a:endParaRPr lang="en-US" sz="1100"/>
                    </a:p>
                    <a:p>
                      <a:pPr algn="ctr">
                        <a:lnSpc>
                          <a:spcPts val="1740"/>
                        </a:lnSpc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swabs</a:t>
                      </a:r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rapid_antigen_swabs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nuts1_code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nuts2_code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test_notes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case_notes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 b="true">
                          <a:solidFill>
                            <a:srgbClr val="000000"/>
                          </a:solidFill>
                          <a:latin typeface="Telegraf Bold"/>
                          <a:ea typeface="Telegraf Bold"/>
                          <a:cs typeface="Telegraf Bold"/>
                          <a:sym typeface="Telegraf Bold"/>
                        </a:rPr>
                        <a:t>swabs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r>
                        <a:rPr lang="en-US" sz="1500">
                          <a:solidFill>
                            <a:srgbClr val="000000"/>
                          </a:solidFill>
                          <a:latin typeface="Telegraf"/>
                          <a:ea typeface="Telegraf"/>
                          <a:cs typeface="Telegraf"/>
                          <a:sym typeface="Telegraf"/>
                        </a:rPr>
                        <a:t>tested_cases</a:t>
                      </a: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 anchor="t" rtlCol="false"/>
                    <a:lstStyle/>
                    <a:p>
                      <a:pPr algn="ctr">
                        <a:lnSpc>
                          <a:spcPts val="1740"/>
                        </a:lnSpc>
                        <a:defRPr/>
                      </a:pPr>
                      <a:endParaRPr lang="en-US" sz="1100"/>
                    </a:p>
                  </a:txBody>
                  <a:tcPr marL="190500" marR="190500" marT="190500" marB="190500" anchor="ctr">
                    <a:lnL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cmpd="sng" algn="ctr" cap="flat" w="38100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  <p:sp>
        <p:nvSpPr>
          <p:cNvPr name="Freeform 7" id="7"/>
          <p:cNvSpPr/>
          <p:nvPr/>
        </p:nvSpPr>
        <p:spPr>
          <a:xfrm flipH="false" flipV="false" rot="0">
            <a:off x="5556979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TextBox 8" id="8"/>
          <p:cNvSpPr txBox="true"/>
          <p:nvPr/>
        </p:nvSpPr>
        <p:spPr>
          <a:xfrm rot="0">
            <a:off x="1028700" y="695325"/>
            <a:ext cx="5680141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ETL Process</a:t>
            </a:r>
          </a:p>
        </p:txBody>
      </p:sp>
      <p:sp>
        <p:nvSpPr>
          <p:cNvPr name="TextBox 9" id="9"/>
          <p:cNvSpPr txBox="true"/>
          <p:nvPr/>
        </p:nvSpPr>
        <p:spPr>
          <a:xfrm rot="0">
            <a:off x="1093358" y="1371888"/>
            <a:ext cx="472794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covid_cases (Dataset from DPC)</a:t>
            </a:r>
          </a:p>
        </p:txBody>
      </p:sp>
      <p:sp>
        <p:nvSpPr>
          <p:cNvPr name="TextBox 10" id="10"/>
          <p:cNvSpPr txBox="true"/>
          <p:nvPr/>
        </p:nvSpPr>
        <p:spPr>
          <a:xfrm rot="0">
            <a:off x="1093358" y="2638697"/>
            <a:ext cx="14143903" cy="718259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99"/>
              </a:lnSpc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Cleansing and integratio in phases of the original data were made through Python scripts.</a:t>
            </a:r>
          </a:p>
          <a:p>
            <a:pPr algn="l" marL="0" indent="0" lvl="0">
              <a:lnSpc>
                <a:spcPts val="2899"/>
              </a:lnSpc>
              <a:spcBef>
                <a:spcPct val="0"/>
              </a:spcBef>
            </a:pPr>
            <a:r>
              <a:rPr lang="en-US" sz="2071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Below there are detailed operations performed on each of the csv files.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1674708" y="3731924"/>
            <a:ext cx="14143903" cy="22231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Renamed coloumns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Replaced date from time code to yy/mm/dd 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Uniformed region_code field with a 2 characters string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Filtered unnecessary coloumns </a:t>
            </a:r>
          </a:p>
          <a:p>
            <a:pPr algn="l" marL="453388" indent="-226694" lvl="1">
              <a:lnSpc>
                <a:spcPts val="2939"/>
              </a:lnSpc>
              <a:buFont typeface="Arial"/>
              <a:buChar char="•"/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Uniformed empty fields with 0 and null values.</a:t>
            </a:r>
          </a:p>
          <a:p>
            <a:pPr algn="ctr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Freeform 12" id="12"/>
          <p:cNvSpPr/>
          <p:nvPr/>
        </p:nvSpPr>
        <p:spPr>
          <a:xfrm flipH="false" flipV="false" rot="0">
            <a:off x="7282725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2899051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4" id="14"/>
          <p:cNvSpPr/>
          <p:nvPr/>
        </p:nvSpPr>
        <p:spPr>
          <a:xfrm flipH="false" flipV="false" rot="0">
            <a:off x="10896211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5" id="15"/>
          <p:cNvSpPr/>
          <p:nvPr/>
        </p:nvSpPr>
        <p:spPr>
          <a:xfrm flipH="false" flipV="false" rot="0">
            <a:off x="16656636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6" id="16"/>
          <p:cNvSpPr/>
          <p:nvPr/>
        </p:nvSpPr>
        <p:spPr>
          <a:xfrm flipH="false" flipV="false" rot="0">
            <a:off x="14778459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7" id="17"/>
          <p:cNvSpPr/>
          <p:nvPr/>
        </p:nvSpPr>
        <p:spPr>
          <a:xfrm flipH="false" flipV="false" rot="0">
            <a:off x="12899051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8" id="18"/>
          <p:cNvSpPr/>
          <p:nvPr/>
        </p:nvSpPr>
        <p:spPr>
          <a:xfrm flipH="false" flipV="false" rot="0">
            <a:off x="10896211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19" id="19"/>
          <p:cNvSpPr/>
          <p:nvPr/>
        </p:nvSpPr>
        <p:spPr>
          <a:xfrm flipH="false" flipV="false" rot="0">
            <a:off x="16656636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0" id="20"/>
          <p:cNvSpPr/>
          <p:nvPr/>
        </p:nvSpPr>
        <p:spPr>
          <a:xfrm flipH="false" flipV="false" rot="0">
            <a:off x="14778459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1" id="21"/>
          <p:cNvSpPr/>
          <p:nvPr/>
        </p:nvSpPr>
        <p:spPr>
          <a:xfrm flipH="false" flipV="false" rot="0">
            <a:off x="11020874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2" id="22"/>
          <p:cNvSpPr/>
          <p:nvPr/>
        </p:nvSpPr>
        <p:spPr>
          <a:xfrm flipH="false" flipV="false" rot="0">
            <a:off x="9018035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3" id="23"/>
          <p:cNvSpPr/>
          <p:nvPr/>
        </p:nvSpPr>
        <p:spPr>
          <a:xfrm flipH="false" flipV="false" rot="0">
            <a:off x="14778459" y="8647406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4" id="24"/>
          <p:cNvSpPr/>
          <p:nvPr/>
        </p:nvSpPr>
        <p:spPr>
          <a:xfrm flipH="false" flipV="false" rot="0">
            <a:off x="3629085" y="7512529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5" id="25"/>
          <p:cNvSpPr/>
          <p:nvPr/>
        </p:nvSpPr>
        <p:spPr>
          <a:xfrm flipH="false" flipV="false" rot="0">
            <a:off x="9144000" y="7512529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6" id="26"/>
          <p:cNvSpPr/>
          <p:nvPr/>
        </p:nvSpPr>
        <p:spPr>
          <a:xfrm flipH="false" flipV="false" rot="0">
            <a:off x="7282725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7" id="27"/>
          <p:cNvSpPr/>
          <p:nvPr/>
        </p:nvSpPr>
        <p:spPr>
          <a:xfrm flipH="false" flipV="false" rot="0">
            <a:off x="7282725" y="8580731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8" id="28"/>
          <p:cNvSpPr/>
          <p:nvPr/>
        </p:nvSpPr>
        <p:spPr>
          <a:xfrm flipH="false" flipV="false" rot="0">
            <a:off x="5488212" y="8580731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29" id="29"/>
          <p:cNvSpPr/>
          <p:nvPr/>
        </p:nvSpPr>
        <p:spPr>
          <a:xfrm flipH="false" flipV="false" rot="0">
            <a:off x="3752910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0" id="30"/>
          <p:cNvSpPr/>
          <p:nvPr/>
        </p:nvSpPr>
        <p:spPr>
          <a:xfrm flipH="false" flipV="false" rot="0">
            <a:off x="1960458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1" id="31"/>
          <p:cNvSpPr/>
          <p:nvPr/>
        </p:nvSpPr>
        <p:spPr>
          <a:xfrm flipH="false" flipV="false" rot="0">
            <a:off x="168007" y="8583008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1" y="0"/>
                </a:lnTo>
                <a:lnTo>
                  <a:pt x="1506701" y="1070480"/>
                </a:lnTo>
                <a:lnTo>
                  <a:pt x="0" y="1070480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2" id="32"/>
          <p:cNvSpPr/>
          <p:nvPr/>
        </p:nvSpPr>
        <p:spPr>
          <a:xfrm flipH="false" flipV="false" rot="0">
            <a:off x="275349" y="7510252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  <p:sp>
        <p:nvSpPr>
          <p:cNvPr name="Freeform 33" id="33"/>
          <p:cNvSpPr/>
          <p:nvPr/>
        </p:nvSpPr>
        <p:spPr>
          <a:xfrm flipH="false" flipV="false" rot="0">
            <a:off x="1960458" y="6377653"/>
            <a:ext cx="1506702" cy="1070479"/>
          </a:xfrm>
          <a:custGeom>
            <a:avLst/>
            <a:gdLst/>
            <a:ahLst/>
            <a:cxnLst/>
            <a:rect r="r" b="b" t="t" l="l"/>
            <a:pathLst>
              <a:path h="1070479" w="1506702">
                <a:moveTo>
                  <a:pt x="0" y="0"/>
                </a:moveTo>
                <a:lnTo>
                  <a:pt x="1506702" y="0"/>
                </a:lnTo>
                <a:lnTo>
                  <a:pt x="1506702" y="1070479"/>
                </a:lnTo>
                <a:lnTo>
                  <a:pt x="0" y="1070479"/>
                </a:lnTo>
                <a:lnTo>
                  <a:pt x="0" y="0"/>
                </a:lnTo>
                <a:close/>
              </a:path>
            </a:pathLst>
          </a:custGeom>
          <a:blipFill>
            <a:blip r:embed="rId3">
              <a:alphaModFix amt="64000"/>
              <a:extLst>
                <a:ext uri="{96DAC541-7B7A-43D3-8B79-37D633B846F1}">
                  <asvg:svgBlip xmlns:asvg="http://schemas.microsoft.com/office/drawing/2016/SVG/main" r:embed="rId4"/>
                </a:ext>
              </a:extLst>
            </a:blip>
            <a:stretch>
              <a:fillRect l="0" t="0" r="0" b="0"/>
            </a:stretch>
          </a:blipFill>
        </p:spPr>
      </p:sp>
    </p:spTree>
  </p:cSld>
  <p:clrMapOvr>
    <a:masterClrMapping/>
  </p:clrMapOvr>
  <p:transition spd="slow">
    <p:fade/>
  </p:transition>
</p:sld>
</file>

<file path=ppt/slides/slide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2189899" y="2834673"/>
            <a:ext cx="13342619" cy="6813136"/>
          </a:xfrm>
          <a:custGeom>
            <a:avLst/>
            <a:gdLst/>
            <a:ahLst/>
            <a:cxnLst/>
            <a:rect r="r" b="b" t="t" l="l"/>
            <a:pathLst>
              <a:path h="6813136" w="13342619">
                <a:moveTo>
                  <a:pt x="0" y="0"/>
                </a:moveTo>
                <a:lnTo>
                  <a:pt x="13342619" y="0"/>
                </a:lnTo>
                <a:lnTo>
                  <a:pt x="13342619" y="6813137"/>
                </a:lnTo>
                <a:lnTo>
                  <a:pt x="0" y="681313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904" t="0" r="-24874" b="-668892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532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Conceptual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33404"/>
            <a:ext cx="4727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DFM Schema </a:t>
            </a:r>
          </a:p>
        </p:txBody>
      </p:sp>
    </p:spTree>
  </p:cSld>
  <p:clrMapOvr>
    <a:masterClrMapping/>
  </p:clrMapOvr>
  <p:transition spd="fast">
    <p:push dir="l"/>
  </p:transition>
</p:sld>
</file>

<file path=ppt/slides/slide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1919314" y="3179000"/>
            <a:ext cx="13883788" cy="5832277"/>
          </a:xfrm>
          <a:custGeom>
            <a:avLst/>
            <a:gdLst/>
            <a:ahLst/>
            <a:cxnLst/>
            <a:rect r="r" b="b" t="t" l="l"/>
            <a:pathLst>
              <a:path h="5832277" w="13883788">
                <a:moveTo>
                  <a:pt x="0" y="0"/>
                </a:moveTo>
                <a:lnTo>
                  <a:pt x="13883788" y="0"/>
                </a:lnTo>
                <a:lnTo>
                  <a:pt x="13883788" y="5832277"/>
                </a:lnTo>
                <a:lnTo>
                  <a:pt x="0" y="583227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1562" t="-123495" r="-13287" b="-582488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532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Conceptual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33404"/>
            <a:ext cx="4727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DFM Schema </a:t>
            </a:r>
          </a:p>
        </p:txBody>
      </p:sp>
    </p:spTree>
  </p:cSld>
  <p:clrMapOvr>
    <a:masterClrMapping/>
  </p:clrMapOvr>
  <p:transition spd="fast">
    <p:fade/>
  </p:transition>
</p:sld>
</file>

<file path=ppt/slides/slide1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214207" y="2555085"/>
            <a:ext cx="11294003" cy="6946827"/>
          </a:xfrm>
          <a:custGeom>
            <a:avLst/>
            <a:gdLst/>
            <a:ahLst/>
            <a:cxnLst/>
            <a:rect r="r" b="b" t="t" l="l"/>
            <a:pathLst>
              <a:path h="6946827" w="11294003">
                <a:moveTo>
                  <a:pt x="0" y="0"/>
                </a:moveTo>
                <a:lnTo>
                  <a:pt x="11294003" y="0"/>
                </a:lnTo>
                <a:lnTo>
                  <a:pt x="11294003" y="6946827"/>
                </a:lnTo>
                <a:lnTo>
                  <a:pt x="0" y="6946827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31532" t="-235821" r="-40332" b="-421913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28700" y="69532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Conceptual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33404"/>
            <a:ext cx="4727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DFM Schema </a:t>
            </a:r>
          </a:p>
        </p:txBody>
      </p:sp>
    </p:spTree>
  </p:cSld>
  <p:clrMapOvr>
    <a:masterClrMapping/>
  </p:clrMapOvr>
  <p:transition spd="fast">
    <p:fade/>
  </p:transition>
</p:sld>
</file>

<file path=ppt/slides/slide1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308701" y="2194848"/>
            <a:ext cx="11085965" cy="8092152"/>
          </a:xfrm>
          <a:custGeom>
            <a:avLst/>
            <a:gdLst/>
            <a:ahLst/>
            <a:cxnLst/>
            <a:rect r="r" b="b" t="t" l="l"/>
            <a:pathLst>
              <a:path h="8092152" w="11085965">
                <a:moveTo>
                  <a:pt x="0" y="0"/>
                </a:moveTo>
                <a:lnTo>
                  <a:pt x="11085965" y="0"/>
                </a:lnTo>
                <a:lnTo>
                  <a:pt x="11085965" y="8092152"/>
                </a:lnTo>
                <a:lnTo>
                  <a:pt x="0" y="809215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-216410" r="0" b="-55105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1019175" y="747048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Logical modeling</a:t>
            </a:r>
          </a:p>
        </p:txBody>
      </p:sp>
      <p:sp>
        <p:nvSpPr>
          <p:cNvPr name="TextBox 8" id="8"/>
          <p:cNvSpPr txBox="true"/>
          <p:nvPr/>
        </p:nvSpPr>
        <p:spPr>
          <a:xfrm rot="0">
            <a:off x="1028700" y="1433404"/>
            <a:ext cx="4727943" cy="42227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3499"/>
              </a:lnSpc>
              <a:spcBef>
                <a:spcPct val="0"/>
              </a:spcBef>
            </a:pPr>
            <a:r>
              <a:rPr lang="en-US" sz="24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SNOWFLAKE schema</a:t>
            </a:r>
          </a:p>
        </p:txBody>
      </p:sp>
    </p:spTree>
  </p:cSld>
  <p:clrMapOvr>
    <a:masterClrMapping/>
  </p:clrMapOvr>
  <p:transition spd="fast">
    <p:fade/>
  </p:transition>
</p:sld>
</file>

<file path=ppt/slides/slide1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0" y="-53674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grpSp>
        <p:nvGrpSpPr>
          <p:cNvPr name="Group 6" id="6"/>
          <p:cNvGrpSpPr/>
          <p:nvPr/>
        </p:nvGrpSpPr>
        <p:grpSpPr>
          <a:xfrm rot="0">
            <a:off x="689915" y="2473096"/>
            <a:ext cx="13073085" cy="3266583"/>
            <a:chOff x="0" y="0"/>
            <a:chExt cx="3443117" cy="860335"/>
          </a:xfrm>
        </p:grpSpPr>
        <p:sp>
          <p:nvSpPr>
            <p:cNvPr name="Freeform 7" id="7"/>
            <p:cNvSpPr/>
            <p:nvPr/>
          </p:nvSpPr>
          <p:spPr>
            <a:xfrm flipH="false" flipV="false" rot="0">
              <a:off x="0" y="0"/>
              <a:ext cx="3443117" cy="860335"/>
            </a:xfrm>
            <a:custGeom>
              <a:avLst/>
              <a:gdLst/>
              <a:ahLst/>
              <a:cxnLst/>
              <a:rect r="r" b="b" t="t" l="l"/>
              <a:pathLst>
                <a:path h="860335" w="3443117">
                  <a:moveTo>
                    <a:pt x="17174" y="0"/>
                  </a:moveTo>
                  <a:lnTo>
                    <a:pt x="3425943" y="0"/>
                  </a:lnTo>
                  <a:cubicBezTo>
                    <a:pt x="3435428" y="0"/>
                    <a:pt x="3443117" y="7689"/>
                    <a:pt x="3443117" y="17174"/>
                  </a:cubicBezTo>
                  <a:lnTo>
                    <a:pt x="3443117" y="843161"/>
                  </a:lnTo>
                  <a:cubicBezTo>
                    <a:pt x="3443117" y="852646"/>
                    <a:pt x="3435428" y="860335"/>
                    <a:pt x="3425943" y="860335"/>
                  </a:cubicBezTo>
                  <a:lnTo>
                    <a:pt x="17174" y="860335"/>
                  </a:lnTo>
                  <a:cubicBezTo>
                    <a:pt x="7689" y="860335"/>
                    <a:pt x="0" y="852646"/>
                    <a:pt x="0" y="843161"/>
                  </a:cubicBezTo>
                  <a:lnTo>
                    <a:pt x="0" y="17174"/>
                  </a:lnTo>
                  <a:cubicBezTo>
                    <a:pt x="0" y="7689"/>
                    <a:pt x="7689" y="0"/>
                    <a:pt x="171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8" id="8"/>
            <p:cNvSpPr txBox="true"/>
            <p:nvPr/>
          </p:nvSpPr>
          <p:spPr>
            <a:xfrm>
              <a:off x="0" y="-47625"/>
              <a:ext cx="3443117" cy="90796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9" id="9"/>
          <p:cNvSpPr txBox="true"/>
          <p:nvPr/>
        </p:nvSpPr>
        <p:spPr>
          <a:xfrm rot="0">
            <a:off x="864902" y="2643507"/>
            <a:ext cx="12001500" cy="296608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CREA</a:t>
            </a: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TE OR REPLACE VIEW dw_layer.vw_vaccination_cumulative AS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date_key,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region_key,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age_key,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SUM(first_dose) OVER (PARTITION BY region_key, age_key ORDER BY date_key) 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AS cumulative_first_dose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dw_layer.fact_vaccination;</a:t>
            </a:r>
          </a:p>
        </p:txBody>
      </p:sp>
      <p:grpSp>
        <p:nvGrpSpPr>
          <p:cNvPr name="Group 10" id="10"/>
          <p:cNvGrpSpPr/>
          <p:nvPr/>
        </p:nvGrpSpPr>
        <p:grpSpPr>
          <a:xfrm rot="0">
            <a:off x="689915" y="6216555"/>
            <a:ext cx="13073085" cy="3796909"/>
            <a:chOff x="0" y="0"/>
            <a:chExt cx="3443117" cy="1000009"/>
          </a:xfrm>
        </p:grpSpPr>
        <p:sp>
          <p:nvSpPr>
            <p:cNvPr name="Freeform 11" id="11"/>
            <p:cNvSpPr/>
            <p:nvPr/>
          </p:nvSpPr>
          <p:spPr>
            <a:xfrm flipH="false" flipV="false" rot="0">
              <a:off x="0" y="0"/>
              <a:ext cx="3443117" cy="1000009"/>
            </a:xfrm>
            <a:custGeom>
              <a:avLst/>
              <a:gdLst/>
              <a:ahLst/>
              <a:cxnLst/>
              <a:rect r="r" b="b" t="t" l="l"/>
              <a:pathLst>
                <a:path h="1000009" w="3443117">
                  <a:moveTo>
                    <a:pt x="17174" y="0"/>
                  </a:moveTo>
                  <a:lnTo>
                    <a:pt x="3425943" y="0"/>
                  </a:lnTo>
                  <a:cubicBezTo>
                    <a:pt x="3435428" y="0"/>
                    <a:pt x="3443117" y="7689"/>
                    <a:pt x="3443117" y="17174"/>
                  </a:cubicBezTo>
                  <a:lnTo>
                    <a:pt x="3443117" y="982835"/>
                  </a:lnTo>
                  <a:cubicBezTo>
                    <a:pt x="3443117" y="992320"/>
                    <a:pt x="3435428" y="1000009"/>
                    <a:pt x="3425943" y="1000009"/>
                  </a:cubicBezTo>
                  <a:lnTo>
                    <a:pt x="17174" y="1000009"/>
                  </a:lnTo>
                  <a:cubicBezTo>
                    <a:pt x="7689" y="1000009"/>
                    <a:pt x="0" y="992320"/>
                    <a:pt x="0" y="982835"/>
                  </a:cubicBezTo>
                  <a:lnTo>
                    <a:pt x="0" y="17174"/>
                  </a:lnTo>
                  <a:cubicBezTo>
                    <a:pt x="0" y="7689"/>
                    <a:pt x="7689" y="0"/>
                    <a:pt x="171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2" id="12"/>
            <p:cNvSpPr txBox="true"/>
            <p:nvPr/>
          </p:nvSpPr>
          <p:spPr>
            <a:xfrm>
              <a:off x="0" y="-47625"/>
              <a:ext cx="3443117" cy="1047634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3" id="13"/>
          <p:cNvSpPr txBox="true"/>
          <p:nvPr/>
        </p:nvSpPr>
        <p:spPr>
          <a:xfrm rot="0">
            <a:off x="864902" y="6418237"/>
            <a:ext cx="8161020" cy="37090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CREA</a:t>
            </a: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TE OR REPLACE VIEW dw_layer.vw_covid_monthly AS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d.year,d.month,fc.region_key,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SUM(fc.new_positives) AS monthly_new_cases,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SUM(fc.hospitalized) AS monthly_hospitalized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dw_layer.fact_covid_cases fc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fc.date_key = d.date_key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b="true" sz="20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d.year, d.month, fc.region_key;</a:t>
            </a:r>
          </a:p>
          <a:p>
            <a:pPr algn="l">
              <a:lnSpc>
                <a:spcPts val="2939"/>
              </a:lnSpc>
              <a:spcBef>
                <a:spcPct val="0"/>
              </a:spcBef>
            </a:pPr>
          </a:p>
        </p:txBody>
      </p:sp>
      <p:sp>
        <p:nvSpPr>
          <p:cNvPr name="TextBox 14" id="14"/>
          <p:cNvSpPr txBox="true"/>
          <p:nvPr/>
        </p:nvSpPr>
        <p:spPr>
          <a:xfrm rot="0">
            <a:off x="864902" y="727055"/>
            <a:ext cx="9863512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Views for ROLAP Queries</a:t>
            </a:r>
          </a:p>
        </p:txBody>
      </p:sp>
      <p:sp>
        <p:nvSpPr>
          <p:cNvPr name="AutoShape 15" id="15"/>
          <p:cNvSpPr/>
          <p:nvPr/>
        </p:nvSpPr>
        <p:spPr>
          <a:xfrm>
            <a:off x="14428773" y="3001427"/>
            <a:ext cx="0" cy="2297871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AutoShape 16" id="16"/>
          <p:cNvSpPr/>
          <p:nvPr/>
        </p:nvSpPr>
        <p:spPr>
          <a:xfrm>
            <a:off x="14447823" y="6666346"/>
            <a:ext cx="0" cy="2897328"/>
          </a:xfrm>
          <a:prstGeom prst="line">
            <a:avLst/>
          </a:prstGeom>
          <a:ln cap="flat" w="38100">
            <a:solidFill>
              <a:srgbClr val="000000"/>
            </a:solidFill>
            <a:prstDash val="solid"/>
            <a:headEnd type="none" len="sm" w="sm"/>
            <a:tailEnd type="none" len="sm" w="sm"/>
          </a:ln>
        </p:spPr>
      </p:sp>
      <p:sp>
        <p:nvSpPr>
          <p:cNvPr name="TextBox 17" id="17"/>
          <p:cNvSpPr txBox="true"/>
          <p:nvPr/>
        </p:nvSpPr>
        <p:spPr>
          <a:xfrm rot="0">
            <a:off x="14787061" y="3899695"/>
            <a:ext cx="305927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Cumulative first doses</a:t>
            </a:r>
          </a:p>
        </p:txBody>
      </p:sp>
      <p:sp>
        <p:nvSpPr>
          <p:cNvPr name="TextBox 18" id="18"/>
          <p:cNvSpPr txBox="true"/>
          <p:nvPr/>
        </p:nvSpPr>
        <p:spPr>
          <a:xfrm rot="0">
            <a:off x="14921443" y="7904137"/>
            <a:ext cx="279050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ctr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Monthly covid cases</a:t>
            </a:r>
          </a:p>
        </p:txBody>
      </p:sp>
    </p:spTree>
  </p:cSld>
  <p:clrMapOvr>
    <a:masterClrMapping/>
  </p:clrMapOvr>
  <p:transition spd="slow">
    <p:push dir="l"/>
  </p:transition>
</p:sld>
</file>

<file path=ppt/slides/slide13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573633" y="2832525"/>
            <a:ext cx="13546287" cy="5799933"/>
            <a:chOff x="0" y="0"/>
            <a:chExt cx="3567746" cy="1527554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567747" cy="1527554"/>
            </a:xfrm>
            <a:custGeom>
              <a:avLst/>
              <a:gdLst/>
              <a:ahLst/>
              <a:cxnLst/>
              <a:rect r="r" b="b" t="t" l="l"/>
              <a:pathLst>
                <a:path h="1527554" w="3567747">
                  <a:moveTo>
                    <a:pt x="16574" y="0"/>
                  </a:moveTo>
                  <a:lnTo>
                    <a:pt x="3551173" y="0"/>
                  </a:lnTo>
                  <a:cubicBezTo>
                    <a:pt x="3560326" y="0"/>
                    <a:pt x="3567747" y="7420"/>
                    <a:pt x="3567747" y="16574"/>
                  </a:cubicBezTo>
                  <a:lnTo>
                    <a:pt x="3567747" y="1510980"/>
                  </a:lnTo>
                  <a:cubicBezTo>
                    <a:pt x="3567747" y="1520134"/>
                    <a:pt x="3560326" y="1527554"/>
                    <a:pt x="3551173" y="1527554"/>
                  </a:cubicBezTo>
                  <a:lnTo>
                    <a:pt x="16574" y="1527554"/>
                  </a:lnTo>
                  <a:cubicBezTo>
                    <a:pt x="7420" y="1527554"/>
                    <a:pt x="0" y="1520134"/>
                    <a:pt x="0" y="1510980"/>
                  </a:cubicBezTo>
                  <a:lnTo>
                    <a:pt x="0" y="16574"/>
                  </a:lnTo>
                  <a:cubicBezTo>
                    <a:pt x="0" y="7420"/>
                    <a:pt x="7420" y="0"/>
                    <a:pt x="1657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567746" cy="1575179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3058532"/>
            <a:ext cx="10241280" cy="519493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 r.region_name,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 d.year,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 d.month, 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 AVG(c.new_positives) AS avg_new_positives,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 MAX(vc.cumulative_first_Dose) AS vaccination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dw_layer.fact_covid_cases c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dw_layer.vw_vaccination_cumulative vc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c.region_key = vc.region_key AND c.date_key = vc.date_key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dw_layer.dimRegion r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c.region_key = r.regionKey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c.date_key = d.dateKey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r.region_name, d.year, d.month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d.year, d.month, r.region_name;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1465134"/>
            <a:ext cx="15680573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Monthly Aggregation of New COVID-19 Cases and Cumulative First Dose Vaccinations by Region</a:t>
            </a:r>
          </a:p>
        </p:txBody>
      </p:sp>
    </p:spTree>
  </p:cSld>
  <p:clrMapOvr>
    <a:masterClrMapping/>
  </p:clrMapOvr>
  <p:transition spd="fast">
    <p:fade/>
  </p:transition>
</p:sld>
</file>

<file path=ppt/slides/slide14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47517" y="2852823"/>
            <a:ext cx="15800462" cy="6774768"/>
            <a:chOff x="0" y="0"/>
            <a:chExt cx="4161438" cy="1784301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161439" cy="1784301"/>
            </a:xfrm>
            <a:custGeom>
              <a:avLst/>
              <a:gdLst/>
              <a:ahLst/>
              <a:cxnLst/>
              <a:rect r="r" b="b" t="t" l="l"/>
              <a:pathLst>
                <a:path h="1784301" w="4161439">
                  <a:moveTo>
                    <a:pt x="14209" y="0"/>
                  </a:moveTo>
                  <a:lnTo>
                    <a:pt x="4147229" y="0"/>
                  </a:lnTo>
                  <a:cubicBezTo>
                    <a:pt x="4155077" y="0"/>
                    <a:pt x="4161439" y="6362"/>
                    <a:pt x="4161439" y="14209"/>
                  </a:cubicBezTo>
                  <a:lnTo>
                    <a:pt x="4161439" y="1770092"/>
                  </a:lnTo>
                  <a:cubicBezTo>
                    <a:pt x="4161439" y="1773860"/>
                    <a:pt x="4159941" y="1777474"/>
                    <a:pt x="4157277" y="1780139"/>
                  </a:cubicBezTo>
                  <a:cubicBezTo>
                    <a:pt x="4154612" y="1782804"/>
                    <a:pt x="4150998" y="1784301"/>
                    <a:pt x="4147229" y="1784301"/>
                  </a:cubicBezTo>
                  <a:lnTo>
                    <a:pt x="14209" y="1784301"/>
                  </a:lnTo>
                  <a:cubicBezTo>
                    <a:pt x="10441" y="1784301"/>
                    <a:pt x="6827" y="1782804"/>
                    <a:pt x="4162" y="1780139"/>
                  </a:cubicBezTo>
                  <a:cubicBezTo>
                    <a:pt x="1497" y="1777474"/>
                    <a:pt x="0" y="1773860"/>
                    <a:pt x="0" y="1770092"/>
                  </a:cubicBezTo>
                  <a:lnTo>
                    <a:pt x="0" y="14209"/>
                  </a:lnTo>
                  <a:cubicBezTo>
                    <a:pt x="0" y="10441"/>
                    <a:pt x="1497" y="6827"/>
                    <a:pt x="4162" y="4162"/>
                  </a:cubicBezTo>
                  <a:cubicBezTo>
                    <a:pt x="6827" y="1497"/>
                    <a:pt x="10441" y="0"/>
                    <a:pt x="14209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161438" cy="1831926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3045574"/>
            <a:ext cx="15583076" cy="6289177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 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d.year,r.region_name,a.age_group,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MAX(vc.cumulative_first_dose) AS total_vaccinations, 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fp.total_count AS population,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ROUND(MAX(vc.cumulative_first_dose)::NUMERIC / fp.total_count * 100, 2) AS vaccination_rate_percent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dw_layer.vw_vaccination_cumulative vc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vc.date_key = d.date_key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dw_layer.fact_population fp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vc.region_key = fp.region_key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AND vc.age_key = fp.age_key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AND d.year = fp.year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dw_layer.dimRegion r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vc.region_key = r.regionKey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dw_layer.dimAgeRange a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vc.age_key = a.age_key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d.year,r.region_name,a.age_group,fp.total_count</a:t>
            </a:r>
          </a:p>
          <a:p>
            <a:pPr algn="l">
              <a:lnSpc>
                <a:spcPts val="2659"/>
              </a:lnSpc>
            </a:pPr>
            <a:r>
              <a:rPr lang="en-US" b="true" sz="1899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d.year,r.region_name,a.age_group;</a:t>
            </a:r>
          </a:p>
          <a:p>
            <a:pPr algn="l">
              <a:lnSpc>
                <a:spcPts val="229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1465134"/>
            <a:ext cx="14482281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Yearly Vaccination Coverage by Region and Age Group with Population-Based Vaccination Rate</a:t>
            </a:r>
          </a:p>
        </p:txBody>
      </p:sp>
    </p:spTree>
  </p:cSld>
  <p:clrMapOvr>
    <a:masterClrMapping/>
  </p:clrMapOvr>
  <p:transition spd="fast">
    <p:fade/>
  </p:transition>
</p:sld>
</file>

<file path=ppt/slides/slide15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4752" y="2564877"/>
            <a:ext cx="14867123" cy="7063452"/>
            <a:chOff x="0" y="0"/>
            <a:chExt cx="3915621" cy="1860333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3915621" cy="1860333"/>
            </a:xfrm>
            <a:custGeom>
              <a:avLst/>
              <a:gdLst/>
              <a:ahLst/>
              <a:cxnLst/>
              <a:rect r="r" b="b" t="t" l="l"/>
              <a:pathLst>
                <a:path h="1860333" w="3915621">
                  <a:moveTo>
                    <a:pt x="15101" y="0"/>
                  </a:moveTo>
                  <a:lnTo>
                    <a:pt x="3900519" y="0"/>
                  </a:lnTo>
                  <a:cubicBezTo>
                    <a:pt x="3904524" y="0"/>
                    <a:pt x="3908365" y="1591"/>
                    <a:pt x="3911198" y="4423"/>
                  </a:cubicBezTo>
                  <a:cubicBezTo>
                    <a:pt x="3914030" y="7255"/>
                    <a:pt x="3915621" y="11096"/>
                    <a:pt x="3915621" y="15101"/>
                  </a:cubicBezTo>
                  <a:lnTo>
                    <a:pt x="3915621" y="1845232"/>
                  </a:lnTo>
                  <a:cubicBezTo>
                    <a:pt x="3915621" y="1853572"/>
                    <a:pt x="3908859" y="1860333"/>
                    <a:pt x="3900519" y="1860333"/>
                  </a:cubicBezTo>
                  <a:lnTo>
                    <a:pt x="15101" y="1860333"/>
                  </a:lnTo>
                  <a:cubicBezTo>
                    <a:pt x="6761" y="1860333"/>
                    <a:pt x="0" y="1853572"/>
                    <a:pt x="0" y="1845232"/>
                  </a:cubicBezTo>
                  <a:lnTo>
                    <a:pt x="0" y="15101"/>
                  </a:lnTo>
                  <a:cubicBezTo>
                    <a:pt x="0" y="6761"/>
                    <a:pt x="6761" y="0"/>
                    <a:pt x="15101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3915621" cy="190795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2645098"/>
            <a:ext cx="15042738" cy="6983232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r.region_name,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v.age_key AS age_group,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SUM(fv.first_dose) AS total_first_dose,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SUM(fv.second_dose) AS total_second_dose,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SUM(fv.booster) AS total_booster,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fp.total_count AS population_2024,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ROUND(SUM(fv.first_dose)::numeric / NULLIF(fp.total_count,0) * 100, 2) AS pct_first_dose,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ROUND(SUM(fv.second_dose)::numeric / NULLIF(fp.total_count,0) * 100, 2) AS pct_second_dose,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ROUND(SUM(fv.booster)::numeric / NULLIF(fp.total_count,0) * 100, 2) AS pct_booster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dw_layer.fact_vaccination fv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dw_layer.dimRegion r ON fv.region_key = r.regionKey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dw_layer.dimAgeRange v ON fv.age_key = v.age_key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LEFT JOIN dw_layer.fact_population fp 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 ON fv.region_key = fp.region_key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AND fv.age_key = fp.age_key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  AND fp.year = 2024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r.region_name, v.age_key, fp.total_count</a:t>
            </a:r>
          </a:p>
          <a:p>
            <a:pPr algn="l">
              <a:lnSpc>
                <a:spcPts val="2800"/>
              </a:lnSpc>
            </a:pPr>
            <a:r>
              <a:rPr lang="en-US" b="true" sz="20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r.region_name, v.age_key;</a:t>
            </a:r>
          </a:p>
          <a:p>
            <a:pPr algn="l">
              <a:lnSpc>
                <a:spcPts val="2294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1465134"/>
            <a:ext cx="1289809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Vaccination Totals and Coverage Percentages by Region and Age Group for 2024</a:t>
            </a:r>
          </a:p>
        </p:txBody>
      </p:sp>
    </p:spTree>
  </p:cSld>
  <p:clrMapOvr>
    <a:masterClrMapping/>
  </p:clrMapOvr>
  <p:transition spd="fast">
    <p:fade/>
  </p:transition>
</p:sld>
</file>

<file path=ppt/slides/slide16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8553" y="2733119"/>
            <a:ext cx="15363442" cy="7146799"/>
            <a:chOff x="0" y="0"/>
            <a:chExt cx="4046339" cy="18822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6339" cy="1882285"/>
            </a:xfrm>
            <a:custGeom>
              <a:avLst/>
              <a:gdLst/>
              <a:ahLst/>
              <a:cxnLst/>
              <a:rect r="r" b="b" t="t" l="l"/>
              <a:pathLst>
                <a:path h="1882285" w="4046339">
                  <a:moveTo>
                    <a:pt x="14614" y="0"/>
                  </a:moveTo>
                  <a:lnTo>
                    <a:pt x="4031725" y="0"/>
                  </a:lnTo>
                  <a:cubicBezTo>
                    <a:pt x="4039796" y="0"/>
                    <a:pt x="4046339" y="6543"/>
                    <a:pt x="4046339" y="14614"/>
                  </a:cubicBezTo>
                  <a:lnTo>
                    <a:pt x="4046339" y="1867671"/>
                  </a:lnTo>
                  <a:cubicBezTo>
                    <a:pt x="4046339" y="1875742"/>
                    <a:pt x="4039796" y="1882285"/>
                    <a:pt x="4031725" y="1882285"/>
                  </a:cubicBezTo>
                  <a:lnTo>
                    <a:pt x="14614" y="1882285"/>
                  </a:lnTo>
                  <a:cubicBezTo>
                    <a:pt x="6543" y="1882285"/>
                    <a:pt x="0" y="1875742"/>
                    <a:pt x="0" y="1867671"/>
                  </a:cubicBezTo>
                  <a:lnTo>
                    <a:pt x="0" y="14614"/>
                  </a:lnTo>
                  <a:cubicBezTo>
                    <a:pt x="0" y="6543"/>
                    <a:pt x="6543" y="0"/>
                    <a:pt x="146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46339" cy="192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2916659"/>
            <a:ext cx="14644663" cy="673209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 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d.year, r.region_name, p.population,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</a:t>
            </a: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MAX(fc.deceased) AS total_deaths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dw_layer.fact_covid_cases fc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 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fc.date_key = d.datekey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dw_layer.dimRegion r 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fc.region_key = r.regionKey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(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SELECT year, region_key, SUM(total_count) AS 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FROM dw_layer.fact_population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GROUP BY year, region_key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) p 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p.region_key = fc.region_key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AND p.year = d.year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WHERE d.year BETWEEN 2020 AND 2022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d.year, r.region_name,  p.population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d.year, r.region_name;</a:t>
            </a:r>
          </a:p>
          <a:p>
            <a:pPr algn="l">
              <a:lnSpc>
                <a:spcPts val="107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1465134"/>
            <a:ext cx="12898098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Annual COVID-19 Deaths and Population by Region (2020–2022)</a:t>
            </a:r>
          </a:p>
        </p:txBody>
      </p:sp>
    </p:spTree>
  </p:cSld>
  <p:clrMapOvr>
    <a:masterClrMapping/>
  </p:clrMapOvr>
  <p:transition spd="fast">
    <p:fade/>
  </p:transition>
</p:sld>
</file>

<file path=ppt/slides/slide17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18553" y="2733119"/>
            <a:ext cx="15363442" cy="7146799"/>
            <a:chOff x="0" y="0"/>
            <a:chExt cx="4046339" cy="1882285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046339" cy="1882285"/>
            </a:xfrm>
            <a:custGeom>
              <a:avLst/>
              <a:gdLst/>
              <a:ahLst/>
              <a:cxnLst/>
              <a:rect r="r" b="b" t="t" l="l"/>
              <a:pathLst>
                <a:path h="1882285" w="4046339">
                  <a:moveTo>
                    <a:pt x="14614" y="0"/>
                  </a:moveTo>
                  <a:lnTo>
                    <a:pt x="4031725" y="0"/>
                  </a:lnTo>
                  <a:cubicBezTo>
                    <a:pt x="4039796" y="0"/>
                    <a:pt x="4046339" y="6543"/>
                    <a:pt x="4046339" y="14614"/>
                  </a:cubicBezTo>
                  <a:lnTo>
                    <a:pt x="4046339" y="1867671"/>
                  </a:lnTo>
                  <a:cubicBezTo>
                    <a:pt x="4046339" y="1875742"/>
                    <a:pt x="4039796" y="1882285"/>
                    <a:pt x="4031725" y="1882285"/>
                  </a:cubicBezTo>
                  <a:lnTo>
                    <a:pt x="14614" y="1882285"/>
                  </a:lnTo>
                  <a:cubicBezTo>
                    <a:pt x="6543" y="1882285"/>
                    <a:pt x="0" y="1875742"/>
                    <a:pt x="0" y="1867671"/>
                  </a:cubicBezTo>
                  <a:lnTo>
                    <a:pt x="0" y="14614"/>
                  </a:lnTo>
                  <a:cubicBezTo>
                    <a:pt x="0" y="6543"/>
                    <a:pt x="6543" y="0"/>
                    <a:pt x="14614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046339" cy="1929910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2916659"/>
            <a:ext cx="14644663" cy="709824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d.year, v.technology AS vaccine_technology,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SUM(fv.first_dose) AS total_vaccinations_cumulative, p.total_population,</a:t>
            </a:r>
          </a:p>
          <a:p>
            <a:pPr algn="l">
              <a:lnSpc>
                <a:spcPts val="2940"/>
              </a:lnSpc>
            </a:pPr>
            <a:r>
              <a:rPr lang="en-US" sz="2100" b="true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ROUND(SU</a:t>
            </a: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M(fv.first_dose)::numeric / NULLIF(p.total_population,0), 4) * 100 AS pct_vaccinated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dw_layer.fact_vaccination fv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dw_layer.dimVaccine v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ON fv.vaccine_key = v.vaccine_name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ON fv.date_key = d.dateKey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(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SELECT year, SUM(total_count) AS total_population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FROM dw_layer.fact_population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GROUP BY year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) p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ON d.year = p.year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d.year, v.technology, p.total_population</a:t>
            </a:r>
          </a:p>
          <a:p>
            <a:pPr algn="l">
              <a:lnSpc>
                <a:spcPts val="2940"/>
              </a:lnSpc>
            </a:pPr>
            <a:r>
              <a:rPr lang="en-US" b="true" sz="21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d.year, v.technology;</a:t>
            </a:r>
          </a:p>
          <a:p>
            <a:pPr algn="l">
              <a:lnSpc>
                <a:spcPts val="2940"/>
              </a:lnSpc>
            </a:pPr>
          </a:p>
          <a:p>
            <a:pPr algn="l">
              <a:lnSpc>
                <a:spcPts val="1076"/>
              </a:lnSpc>
              <a:spcBef>
                <a:spcPct val="0"/>
              </a:spcBef>
            </a:pP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1465134"/>
            <a:ext cx="15359705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Annual cumulative first-dose vaccinations by vaccine technology with population and coverage percentage</a:t>
            </a:r>
          </a:p>
        </p:txBody>
      </p:sp>
    </p:spTree>
  </p:cSld>
  <p:clrMapOvr>
    <a:masterClrMapping/>
  </p:clrMapOvr>
  <p:transition spd="fast">
    <p:fade/>
  </p:transition>
</p:sld>
</file>

<file path=ppt/slides/slide18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6" id="6"/>
          <p:cNvSpPr txBox="true"/>
          <p:nvPr/>
        </p:nvSpPr>
        <p:spPr>
          <a:xfrm rot="0">
            <a:off x="864902" y="727055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Rolap Queries</a:t>
            </a:r>
          </a:p>
        </p:txBody>
      </p:sp>
      <p:grpSp>
        <p:nvGrpSpPr>
          <p:cNvPr name="Group 7" id="7"/>
          <p:cNvGrpSpPr/>
          <p:nvPr/>
        </p:nvGrpSpPr>
        <p:grpSpPr>
          <a:xfrm rot="0">
            <a:off x="624752" y="2307079"/>
            <a:ext cx="17106394" cy="7654044"/>
            <a:chOff x="0" y="0"/>
            <a:chExt cx="4505388" cy="2015880"/>
          </a:xfrm>
        </p:grpSpPr>
        <p:sp>
          <p:nvSpPr>
            <p:cNvPr name="Freeform 8" id="8"/>
            <p:cNvSpPr/>
            <p:nvPr/>
          </p:nvSpPr>
          <p:spPr>
            <a:xfrm flipH="false" flipV="false" rot="0">
              <a:off x="0" y="0"/>
              <a:ext cx="4505388" cy="2015880"/>
            </a:xfrm>
            <a:custGeom>
              <a:avLst/>
              <a:gdLst/>
              <a:ahLst/>
              <a:cxnLst/>
              <a:rect r="r" b="b" t="t" l="l"/>
              <a:pathLst>
                <a:path h="2015880" w="4505388">
                  <a:moveTo>
                    <a:pt x="13125" y="0"/>
                  </a:moveTo>
                  <a:lnTo>
                    <a:pt x="4492263" y="0"/>
                  </a:lnTo>
                  <a:cubicBezTo>
                    <a:pt x="4495744" y="0"/>
                    <a:pt x="4499082" y="1383"/>
                    <a:pt x="4501544" y="3844"/>
                  </a:cubicBezTo>
                  <a:cubicBezTo>
                    <a:pt x="4504005" y="6305"/>
                    <a:pt x="4505388" y="9644"/>
                    <a:pt x="4505388" y="13125"/>
                  </a:cubicBezTo>
                  <a:lnTo>
                    <a:pt x="4505388" y="2002755"/>
                  </a:lnTo>
                  <a:cubicBezTo>
                    <a:pt x="4505388" y="2010004"/>
                    <a:pt x="4499512" y="2015880"/>
                    <a:pt x="4492263" y="2015880"/>
                  </a:cubicBezTo>
                  <a:lnTo>
                    <a:pt x="13125" y="2015880"/>
                  </a:lnTo>
                  <a:cubicBezTo>
                    <a:pt x="5876" y="2015880"/>
                    <a:pt x="0" y="2010004"/>
                    <a:pt x="0" y="2002755"/>
                  </a:cubicBezTo>
                  <a:lnTo>
                    <a:pt x="0" y="13125"/>
                  </a:lnTo>
                  <a:cubicBezTo>
                    <a:pt x="0" y="5876"/>
                    <a:pt x="5876" y="0"/>
                    <a:pt x="13125" y="0"/>
                  </a:cubicBez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9" id="9"/>
            <p:cNvSpPr txBox="true"/>
            <p:nvPr/>
          </p:nvSpPr>
          <p:spPr>
            <a:xfrm>
              <a:off x="0" y="-47625"/>
              <a:ext cx="4505388" cy="20635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0" id="10"/>
          <p:cNvSpPr txBox="true"/>
          <p:nvPr/>
        </p:nvSpPr>
        <p:spPr>
          <a:xfrm rot="0">
            <a:off x="864902" y="1465134"/>
            <a:ext cx="16289874" cy="365760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939"/>
              </a:lnSpc>
              <a:spcBef>
                <a:spcPct val="0"/>
              </a:spcBef>
            </a:pPr>
            <a:r>
              <a:rPr lang="en-US" sz="2099">
                <a:solidFill>
                  <a:srgbClr val="000000"/>
                </a:solidFill>
                <a:latin typeface="Garet"/>
                <a:ea typeface="Garet"/>
                <a:cs typeface="Garet"/>
                <a:sym typeface="Garet"/>
              </a:rPr>
              <a:t>Monthly COVID-19 Cases, Hospitalizations, and Vaccination Coverage by Age Group in Selected Regions (2021–2023)</a:t>
            </a:r>
          </a:p>
        </p:txBody>
      </p:sp>
      <p:sp>
        <p:nvSpPr>
          <p:cNvPr name="TextBox 11" id="11"/>
          <p:cNvSpPr txBox="true"/>
          <p:nvPr/>
        </p:nvSpPr>
        <p:spPr>
          <a:xfrm rot="0">
            <a:off x="864902" y="2481222"/>
            <a:ext cx="17180777" cy="7333615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SELECT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d.year, d.month, r.region_name, a.age_group,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MAX(vc.cumulative_first_dose) AS total_vaccinations_cumulative,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cm.monthly_new_cases AS total_new_positives, cm.monthly_hospitalized AS total_hospitalized,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fp.total_count AS population,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ROUND(cm.monthly_new_cases::NUMERIC / NULLIF(fp.total_count, 0) * 100000, 2) AS incidence_per_100k,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ROUND(MAX(vc.cumulative_first_dose)::NUMERIC / NULLIF(fp.total_count, 0) * 100, 2) AS pct_vaccinated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FROM dw_layer.vw_vaccination_cumulative vc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dw_layer.dimDate d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vc.date_key = d.datekey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dw_layer.vw_covid_monthly cm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cm.region_key = vc.region_key AND cm.year = d.year AND cm.month = d.month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dw_layer.dimRegion r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vc.region_key = r.regionKey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dw_layer.dimAgeRange a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vc.age_key = a.age_key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JOIN dw_layer.fact_population fp  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    ON vc.region_key = fp.region_key AND vc.age_key = fp.age_key AND d.year = fp.year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WHERE r.region_name IN ('Lombardia', 'Lazio') AND d.year BETWEEN 2021 AND 2023</a:t>
            </a:r>
          </a:p>
          <a:p>
            <a:pPr algn="l">
              <a:lnSpc>
                <a:spcPts val="2660"/>
              </a:lnSpc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GROUP BY d.year, d.month, r.region_name, a.age_group, cm.monthly_new_cases, cm.monthly_hospitalized, fp.total_count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  <a:r>
              <a:rPr lang="en-US" b="true" sz="1900">
                <a:solidFill>
                  <a:srgbClr val="000000"/>
                </a:solidFill>
                <a:latin typeface="Anca Coder Bold"/>
                <a:ea typeface="Anca Coder Bold"/>
                <a:cs typeface="Anca Coder Bold"/>
                <a:sym typeface="Anca Coder Bold"/>
              </a:rPr>
              <a:t>ORDER BY d.year, d.month, r.region_name, a.age_group;</a:t>
            </a:r>
          </a:p>
          <a:p>
            <a:pPr algn="l">
              <a:lnSpc>
                <a:spcPts val="2660"/>
              </a:lnSpc>
              <a:spcBef>
                <a:spcPct val="0"/>
              </a:spcBef>
            </a:pPr>
          </a:p>
        </p:txBody>
      </p:sp>
    </p:spTree>
  </p:cSld>
  <p:clrMapOvr>
    <a:masterClrMapping/>
  </p:clrMapOvr>
  <p:transition spd="fast">
    <p:fade/>
  </p:transition>
</p:sld>
</file>

<file path=ppt/slides/slide19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4429105" y="2300814"/>
            <a:ext cx="9429789" cy="7756001"/>
          </a:xfrm>
          <a:custGeom>
            <a:avLst/>
            <a:gdLst/>
            <a:ahLst/>
            <a:cxnLst/>
            <a:rect r="r" b="b" t="t" l="l"/>
            <a:pathLst>
              <a:path h="7756001" w="9429789">
                <a:moveTo>
                  <a:pt x="0" y="0"/>
                </a:moveTo>
                <a:lnTo>
                  <a:pt x="9429790" y="0"/>
                </a:lnTo>
                <a:lnTo>
                  <a:pt x="9429790" y="7756001"/>
                </a:lnTo>
                <a:lnTo>
                  <a:pt x="0" y="7756001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864902" y="861348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Tableau Analysis</a:t>
            </a:r>
          </a:p>
        </p:txBody>
      </p:sp>
    </p:spTree>
  </p:cSld>
  <p:clrMapOvr>
    <a:masterClrMapping/>
  </p:clrMapOvr>
  <p:transition spd="slow">
    <p:push dir="l"/>
  </p:transition>
</p:sld>
</file>

<file path=ppt/slides/slide20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3906507" y="2349731"/>
            <a:ext cx="10474986" cy="6206429"/>
          </a:xfrm>
          <a:custGeom>
            <a:avLst/>
            <a:gdLst/>
            <a:ahLst/>
            <a:cxnLst/>
            <a:rect r="r" b="b" t="t" l="l"/>
            <a:pathLst>
              <a:path h="6206429" w="10474986">
                <a:moveTo>
                  <a:pt x="0" y="0"/>
                </a:moveTo>
                <a:lnTo>
                  <a:pt x="10474986" y="0"/>
                </a:lnTo>
                <a:lnTo>
                  <a:pt x="10474986" y="6206429"/>
                </a:lnTo>
                <a:lnTo>
                  <a:pt x="0" y="6206429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0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0" y="8711043"/>
            <a:ext cx="11301259" cy="1387779"/>
          </a:xfrm>
          <a:custGeom>
            <a:avLst/>
            <a:gdLst/>
            <a:ahLst/>
            <a:cxnLst/>
            <a:rect r="r" b="b" t="t" l="l"/>
            <a:pathLst>
              <a:path h="1387779" w="11301259">
                <a:moveTo>
                  <a:pt x="0" y="0"/>
                </a:moveTo>
                <a:lnTo>
                  <a:pt x="11301259" y="0"/>
                </a:lnTo>
                <a:lnTo>
                  <a:pt x="11301259" y="1387780"/>
                </a:lnTo>
                <a:lnTo>
                  <a:pt x="0" y="1387780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-18079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1177434" y="8762174"/>
            <a:ext cx="11301259" cy="1285518"/>
          </a:xfrm>
          <a:custGeom>
            <a:avLst/>
            <a:gdLst/>
            <a:ahLst/>
            <a:cxnLst/>
            <a:rect r="r" b="b" t="t" l="l"/>
            <a:pathLst>
              <a:path h="1285518" w="11301259">
                <a:moveTo>
                  <a:pt x="0" y="0"/>
                </a:moveTo>
                <a:lnTo>
                  <a:pt x="11301259" y="0"/>
                </a:lnTo>
                <a:lnTo>
                  <a:pt x="11301259" y="1285518"/>
                </a:lnTo>
                <a:lnTo>
                  <a:pt x="0" y="1285518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0" r="0" b="0"/>
            </a:stretch>
          </a:blipFill>
        </p:spPr>
      </p:sp>
      <p:grpSp>
        <p:nvGrpSpPr>
          <p:cNvPr name="Group 9" id="9"/>
          <p:cNvGrpSpPr/>
          <p:nvPr/>
        </p:nvGrpSpPr>
        <p:grpSpPr>
          <a:xfrm rot="0">
            <a:off x="11177434" y="8711043"/>
            <a:ext cx="7110566" cy="400897"/>
            <a:chOff x="0" y="0"/>
            <a:chExt cx="1872742" cy="105586"/>
          </a:xfrm>
        </p:grpSpPr>
        <p:sp>
          <p:nvSpPr>
            <p:cNvPr name="Freeform 10" id="10"/>
            <p:cNvSpPr/>
            <p:nvPr/>
          </p:nvSpPr>
          <p:spPr>
            <a:xfrm flipH="false" flipV="false" rot="0">
              <a:off x="0" y="0"/>
              <a:ext cx="1872742" cy="105586"/>
            </a:xfrm>
            <a:custGeom>
              <a:avLst/>
              <a:gdLst/>
              <a:ahLst/>
              <a:cxnLst/>
              <a:rect r="r" b="b" t="t" l="l"/>
              <a:pathLst>
                <a:path h="105586" w="1872742">
                  <a:moveTo>
                    <a:pt x="0" y="0"/>
                  </a:moveTo>
                  <a:lnTo>
                    <a:pt x="1872742" y="0"/>
                  </a:lnTo>
                  <a:lnTo>
                    <a:pt x="1872742" y="105586"/>
                  </a:lnTo>
                  <a:lnTo>
                    <a:pt x="0" y="105586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1" id="11"/>
            <p:cNvSpPr txBox="true"/>
            <p:nvPr/>
          </p:nvSpPr>
          <p:spPr>
            <a:xfrm>
              <a:off x="0" y="-47625"/>
              <a:ext cx="1872742" cy="153211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TextBox 12" id="12"/>
          <p:cNvSpPr txBox="true"/>
          <p:nvPr/>
        </p:nvSpPr>
        <p:spPr>
          <a:xfrm rot="0">
            <a:off x="864902" y="861348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Tableau Analysis</a:t>
            </a:r>
          </a:p>
        </p:txBody>
      </p:sp>
    </p:spTree>
  </p:cSld>
  <p:clrMapOvr>
    <a:masterClrMapping/>
  </p:clrMapOvr>
  <p:transition spd="fast">
    <p:fade/>
  </p:transition>
</p:sld>
</file>

<file path=ppt/slides/slide21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-19050" y="2194848"/>
            <a:ext cx="10757593" cy="7720102"/>
          </a:xfrm>
          <a:custGeom>
            <a:avLst/>
            <a:gdLst/>
            <a:ahLst/>
            <a:cxnLst/>
            <a:rect r="r" b="b" t="t" l="l"/>
            <a:pathLst>
              <a:path h="7720102" w="10757593">
                <a:moveTo>
                  <a:pt x="0" y="0"/>
                </a:moveTo>
                <a:lnTo>
                  <a:pt x="10757593" y="0"/>
                </a:lnTo>
                <a:lnTo>
                  <a:pt x="10757593" y="7720102"/>
                </a:lnTo>
                <a:lnTo>
                  <a:pt x="0" y="7720102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0" t="0" r="-194" b="0"/>
            </a:stretch>
          </a:blipFill>
        </p:spPr>
      </p:sp>
      <p:sp>
        <p:nvSpPr>
          <p:cNvPr name="Freeform 7" id="7"/>
          <p:cNvSpPr/>
          <p:nvPr/>
        </p:nvSpPr>
        <p:spPr>
          <a:xfrm flipH="false" flipV="false" rot="0">
            <a:off x="10738543" y="2194848"/>
            <a:ext cx="11301259" cy="1695189"/>
          </a:xfrm>
          <a:custGeom>
            <a:avLst/>
            <a:gdLst/>
            <a:ahLst/>
            <a:cxnLst/>
            <a:rect r="r" b="b" t="t" l="l"/>
            <a:pathLst>
              <a:path h="1695189" w="11301259">
                <a:moveTo>
                  <a:pt x="0" y="0"/>
                </a:moveTo>
                <a:lnTo>
                  <a:pt x="11301259" y="0"/>
                </a:lnTo>
                <a:lnTo>
                  <a:pt x="11301259" y="1695189"/>
                </a:lnTo>
                <a:lnTo>
                  <a:pt x="0" y="1695189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0" t="0" r="0" b="0"/>
            </a:stretch>
          </a:blipFill>
        </p:spPr>
      </p:sp>
      <p:sp>
        <p:nvSpPr>
          <p:cNvPr name="Freeform 8" id="8"/>
          <p:cNvSpPr/>
          <p:nvPr/>
        </p:nvSpPr>
        <p:spPr>
          <a:xfrm flipH="false" flipV="false" rot="0">
            <a:off x="10738543" y="3890037"/>
            <a:ext cx="3841693" cy="1465194"/>
          </a:xfrm>
          <a:custGeom>
            <a:avLst/>
            <a:gdLst/>
            <a:ahLst/>
            <a:cxnLst/>
            <a:rect r="r" b="b" t="t" l="l"/>
            <a:pathLst>
              <a:path h="1465194" w="3841693">
                <a:moveTo>
                  <a:pt x="0" y="0"/>
                </a:moveTo>
                <a:lnTo>
                  <a:pt x="3841693" y="0"/>
                </a:lnTo>
                <a:lnTo>
                  <a:pt x="3841693" y="1465194"/>
                </a:lnTo>
                <a:lnTo>
                  <a:pt x="0" y="1465194"/>
                </a:lnTo>
                <a:lnTo>
                  <a:pt x="0" y="0"/>
                </a:lnTo>
                <a:close/>
              </a:path>
            </a:pathLst>
          </a:custGeom>
          <a:blipFill>
            <a:blip r:embed="rId4"/>
            <a:stretch>
              <a:fillRect l="-194173" t="-15697" r="0" b="0"/>
            </a:stretch>
          </a:blipFill>
        </p:spPr>
      </p:sp>
      <p:sp>
        <p:nvSpPr>
          <p:cNvPr name="Freeform 9" id="9"/>
          <p:cNvSpPr/>
          <p:nvPr/>
        </p:nvSpPr>
        <p:spPr>
          <a:xfrm flipH="false" flipV="false" rot="0">
            <a:off x="14303116" y="3890037"/>
            <a:ext cx="11301259" cy="1465194"/>
          </a:xfrm>
          <a:custGeom>
            <a:avLst/>
            <a:gdLst/>
            <a:ahLst/>
            <a:cxnLst/>
            <a:rect r="r" b="b" t="t" l="l"/>
            <a:pathLst>
              <a:path h="1465194" w="11301259">
                <a:moveTo>
                  <a:pt x="0" y="0"/>
                </a:moveTo>
                <a:lnTo>
                  <a:pt x="11301259" y="0"/>
                </a:lnTo>
                <a:lnTo>
                  <a:pt x="11301259" y="1465194"/>
                </a:lnTo>
                <a:lnTo>
                  <a:pt x="0" y="1465194"/>
                </a:lnTo>
                <a:lnTo>
                  <a:pt x="0" y="0"/>
                </a:lnTo>
                <a:close/>
              </a:path>
            </a:pathLst>
          </a:custGeom>
          <a:blipFill>
            <a:blip r:embed="rId5"/>
            <a:stretch>
              <a:fillRect l="0" t="-30159" r="0" b="0"/>
            </a:stretch>
          </a:blipFill>
        </p:spPr>
      </p:sp>
      <p:sp>
        <p:nvSpPr>
          <p:cNvPr name="TextBox 10" id="10"/>
          <p:cNvSpPr txBox="true"/>
          <p:nvPr/>
        </p:nvSpPr>
        <p:spPr>
          <a:xfrm rot="0">
            <a:off x="864902" y="861348"/>
            <a:ext cx="7832508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Tableau Analysis</a:t>
            </a:r>
          </a:p>
        </p:txBody>
      </p:sp>
      <p:sp>
        <p:nvSpPr>
          <p:cNvPr name="Freeform 11" id="11"/>
          <p:cNvSpPr/>
          <p:nvPr/>
        </p:nvSpPr>
        <p:spPr>
          <a:xfrm flipH="false" flipV="false" rot="0">
            <a:off x="10738543" y="6054899"/>
            <a:ext cx="7549457" cy="1387779"/>
          </a:xfrm>
          <a:custGeom>
            <a:avLst/>
            <a:gdLst/>
            <a:ahLst/>
            <a:cxnLst/>
            <a:rect r="r" b="b" t="t" l="l"/>
            <a:pathLst>
              <a:path h="1387779" w="7549457">
                <a:moveTo>
                  <a:pt x="0" y="0"/>
                </a:moveTo>
                <a:lnTo>
                  <a:pt x="7549457" y="0"/>
                </a:lnTo>
                <a:lnTo>
                  <a:pt x="7549457" y="1387779"/>
                </a:lnTo>
                <a:lnTo>
                  <a:pt x="0" y="1387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0" t="0" r="-49696" b="-18079"/>
            </a:stretch>
          </a:blipFill>
        </p:spPr>
      </p:sp>
      <p:sp>
        <p:nvSpPr>
          <p:cNvPr name="Freeform 12" id="12"/>
          <p:cNvSpPr/>
          <p:nvPr/>
        </p:nvSpPr>
        <p:spPr>
          <a:xfrm flipH="false" flipV="false" rot="0">
            <a:off x="14580236" y="7442678"/>
            <a:ext cx="11487637" cy="1336649"/>
          </a:xfrm>
          <a:custGeom>
            <a:avLst/>
            <a:gdLst/>
            <a:ahLst/>
            <a:cxnLst/>
            <a:rect r="r" b="b" t="t" l="l"/>
            <a:pathLst>
              <a:path h="1336649" w="11487637">
                <a:moveTo>
                  <a:pt x="0" y="0"/>
                </a:moveTo>
                <a:lnTo>
                  <a:pt x="11487636" y="0"/>
                </a:lnTo>
                <a:lnTo>
                  <a:pt x="11487636" y="1336649"/>
                </a:lnTo>
                <a:lnTo>
                  <a:pt x="0" y="1336649"/>
                </a:lnTo>
                <a:lnTo>
                  <a:pt x="0" y="0"/>
                </a:lnTo>
                <a:close/>
              </a:path>
            </a:pathLst>
          </a:custGeom>
          <a:blipFill>
            <a:blip r:embed="rId7"/>
            <a:stretch>
              <a:fillRect l="-334" t="0" r="-1956" b="0"/>
            </a:stretch>
          </a:blipFill>
        </p:spPr>
      </p:sp>
      <p:sp>
        <p:nvSpPr>
          <p:cNvPr name="Freeform 13" id="13"/>
          <p:cNvSpPr/>
          <p:nvPr/>
        </p:nvSpPr>
        <p:spPr>
          <a:xfrm flipH="false" flipV="false" rot="0">
            <a:off x="10738543" y="7442678"/>
            <a:ext cx="3841693" cy="1387779"/>
          </a:xfrm>
          <a:custGeom>
            <a:avLst/>
            <a:gdLst/>
            <a:ahLst/>
            <a:cxnLst/>
            <a:rect r="r" b="b" t="t" l="l"/>
            <a:pathLst>
              <a:path h="1387779" w="3841693">
                <a:moveTo>
                  <a:pt x="0" y="0"/>
                </a:moveTo>
                <a:lnTo>
                  <a:pt x="3841693" y="0"/>
                </a:lnTo>
                <a:lnTo>
                  <a:pt x="3841693" y="1387779"/>
                </a:lnTo>
                <a:lnTo>
                  <a:pt x="0" y="1387779"/>
                </a:lnTo>
                <a:lnTo>
                  <a:pt x="0" y="0"/>
                </a:lnTo>
                <a:close/>
              </a:path>
            </a:pathLst>
          </a:custGeom>
          <a:blipFill>
            <a:blip r:embed="rId6"/>
            <a:stretch>
              <a:fillRect l="-189745" t="0" r="-4428" b="-18079"/>
            </a:stretch>
          </a:blipFill>
        </p:spPr>
      </p:sp>
      <p:grpSp>
        <p:nvGrpSpPr>
          <p:cNvPr name="Group 14" id="14"/>
          <p:cNvGrpSpPr/>
          <p:nvPr/>
        </p:nvGrpSpPr>
        <p:grpSpPr>
          <a:xfrm rot="0">
            <a:off x="10794511" y="7395053"/>
            <a:ext cx="7724837" cy="476811"/>
            <a:chOff x="0" y="0"/>
            <a:chExt cx="2034525" cy="125580"/>
          </a:xfrm>
        </p:grpSpPr>
        <p:sp>
          <p:nvSpPr>
            <p:cNvPr name="Freeform 15" id="15"/>
            <p:cNvSpPr/>
            <p:nvPr/>
          </p:nvSpPr>
          <p:spPr>
            <a:xfrm flipH="false" flipV="false" rot="0">
              <a:off x="0" y="0"/>
              <a:ext cx="2034525" cy="125580"/>
            </a:xfrm>
            <a:custGeom>
              <a:avLst/>
              <a:gdLst/>
              <a:ahLst/>
              <a:cxnLst/>
              <a:rect r="r" b="b" t="t" l="l"/>
              <a:pathLst>
                <a:path h="125580" w="2034525">
                  <a:moveTo>
                    <a:pt x="0" y="0"/>
                  </a:moveTo>
                  <a:lnTo>
                    <a:pt x="2034525" y="0"/>
                  </a:lnTo>
                  <a:lnTo>
                    <a:pt x="2034525" y="125580"/>
                  </a:lnTo>
                  <a:lnTo>
                    <a:pt x="0" y="125580"/>
                  </a:lnTo>
                  <a:close/>
                </a:path>
              </a:pathLst>
            </a:custGeom>
            <a:solidFill>
              <a:srgbClr val="FFFFFF"/>
            </a:solidFill>
          </p:spPr>
        </p:sp>
        <p:sp>
          <p:nvSpPr>
            <p:cNvPr name="TextBox 16" id="16"/>
            <p:cNvSpPr txBox="true"/>
            <p:nvPr/>
          </p:nvSpPr>
          <p:spPr>
            <a:xfrm>
              <a:off x="0" y="-47625"/>
              <a:ext cx="2034525" cy="173205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</p:spTree>
  </p:cSld>
  <p:clrMapOvr>
    <a:masterClrMapping/>
  </p:clrMapOvr>
  <p:transition spd="fast">
    <p:fade/>
  </p:transition>
</p:sld>
</file>

<file path=ppt/slides/slide22.xml><?xml version="1.0" encoding="utf-8"?>
<p:sld xmlns:p="http://schemas.openxmlformats.org/presentationml/2006/main" xmlns:a="http://schemas.openxmlformats.org/drawing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name="Freeform 2" id="2"/>
          <p:cNvSpPr/>
          <p:nvPr/>
        </p:nvSpPr>
        <p:spPr>
          <a:xfrm flipH="false" flipV="false" rot="0">
            <a:off x="0" y="0"/>
            <a:ext cx="18288000" cy="10287000"/>
          </a:xfrm>
          <a:custGeom>
            <a:avLst/>
            <a:gdLst/>
            <a:ahLst/>
            <a:cxnLst/>
            <a:rect r="r" b="b" t="t" l="l"/>
            <a:pathLst>
              <a:path h="10287000" w="18288000">
                <a:moveTo>
                  <a:pt x="0" y="0"/>
                </a:moveTo>
                <a:lnTo>
                  <a:pt x="18288000" y="0"/>
                </a:lnTo>
                <a:lnTo>
                  <a:pt x="18288000" y="10287000"/>
                </a:lnTo>
                <a:lnTo>
                  <a:pt x="0" y="10287000"/>
                </a:lnTo>
                <a:lnTo>
                  <a:pt x="0" y="0"/>
                </a:lnTo>
                <a:close/>
              </a:path>
            </a:pathLst>
          </a:custGeom>
          <a:blipFill>
            <a:blip r:embed="rId2"/>
            <a:stretch>
              <a:fillRect l="0" t="-3364" r="0" b="-3364"/>
            </a:stretch>
          </a:blipFill>
        </p:spPr>
      </p:sp>
      <p:grpSp>
        <p:nvGrpSpPr>
          <p:cNvPr name="Group 3" id="3"/>
          <p:cNvGrpSpPr/>
          <p:nvPr/>
        </p:nvGrpSpPr>
        <p:grpSpPr>
          <a:xfrm rot="0">
            <a:off x="-231347" y="-662652"/>
            <a:ext cx="18750695" cy="2857500"/>
            <a:chOff x="0" y="0"/>
            <a:chExt cx="4938455" cy="752593"/>
          </a:xfrm>
        </p:grpSpPr>
        <p:sp>
          <p:nvSpPr>
            <p:cNvPr name="Freeform 4" id="4"/>
            <p:cNvSpPr/>
            <p:nvPr/>
          </p:nvSpPr>
          <p:spPr>
            <a:xfrm flipH="false" flipV="false" rot="0">
              <a:off x="0" y="0"/>
              <a:ext cx="4938455" cy="752593"/>
            </a:xfrm>
            <a:custGeom>
              <a:avLst/>
              <a:gdLst/>
              <a:ahLst/>
              <a:cxnLst/>
              <a:rect r="r" b="b" t="t" l="l"/>
              <a:pathLst>
                <a:path h="752593" w="4938455">
                  <a:moveTo>
                    <a:pt x="0" y="0"/>
                  </a:moveTo>
                  <a:lnTo>
                    <a:pt x="4938455" y="0"/>
                  </a:lnTo>
                  <a:lnTo>
                    <a:pt x="4938455" y="752593"/>
                  </a:lnTo>
                  <a:lnTo>
                    <a:pt x="0" y="752593"/>
                  </a:lnTo>
                  <a:close/>
                </a:path>
              </a:pathLst>
            </a:custGeom>
            <a:solidFill>
              <a:srgbClr val="EBDECC"/>
            </a:solidFill>
          </p:spPr>
        </p:sp>
        <p:sp>
          <p:nvSpPr>
            <p:cNvPr name="TextBox 5" id="5"/>
            <p:cNvSpPr txBox="true"/>
            <p:nvPr/>
          </p:nvSpPr>
          <p:spPr>
            <a:xfrm>
              <a:off x="0" y="-47625"/>
              <a:ext cx="4938455" cy="800218"/>
            </a:xfrm>
            <a:prstGeom prst="rect">
              <a:avLst/>
            </a:prstGeom>
          </p:spPr>
          <p:txBody>
            <a:bodyPr anchor="ctr" rtlCol="false" tIns="50800" lIns="50800" bIns="50800" rIns="50800"/>
            <a:lstStyle/>
            <a:p>
              <a:pPr algn="ctr">
                <a:lnSpc>
                  <a:spcPts val="2939"/>
                </a:lnSpc>
              </a:pPr>
            </a:p>
          </p:txBody>
        </p:sp>
      </p:grpSp>
      <p:sp>
        <p:nvSpPr>
          <p:cNvPr name="Freeform 6" id="6"/>
          <p:cNvSpPr/>
          <p:nvPr/>
        </p:nvSpPr>
        <p:spPr>
          <a:xfrm flipH="false" flipV="false" rot="0">
            <a:off x="0" y="2194848"/>
            <a:ext cx="19589396" cy="13293290"/>
          </a:xfrm>
          <a:custGeom>
            <a:avLst/>
            <a:gdLst/>
            <a:ahLst/>
            <a:cxnLst/>
            <a:rect r="r" b="b" t="t" l="l"/>
            <a:pathLst>
              <a:path h="13293290" w="19589396">
                <a:moveTo>
                  <a:pt x="0" y="0"/>
                </a:moveTo>
                <a:lnTo>
                  <a:pt x="19589396" y="0"/>
                </a:lnTo>
                <a:lnTo>
                  <a:pt x="19589396" y="13293290"/>
                </a:lnTo>
                <a:lnTo>
                  <a:pt x="0" y="13293290"/>
                </a:lnTo>
                <a:lnTo>
                  <a:pt x="0" y="0"/>
                </a:lnTo>
                <a:close/>
              </a:path>
            </a:pathLst>
          </a:custGeom>
          <a:blipFill>
            <a:blip r:embed="rId3"/>
            <a:stretch>
              <a:fillRect l="-19739" t="0" r="-19739" b="-2770"/>
            </a:stretch>
          </a:blipFill>
        </p:spPr>
      </p:sp>
      <p:sp>
        <p:nvSpPr>
          <p:cNvPr name="TextBox 7" id="7"/>
          <p:cNvSpPr txBox="true"/>
          <p:nvPr/>
        </p:nvSpPr>
        <p:spPr>
          <a:xfrm rot="0">
            <a:off x="9144000" y="1409143"/>
            <a:ext cx="9170659" cy="785704"/>
          </a:xfrm>
          <a:prstGeom prst="rect">
            <a:avLst/>
          </a:prstGeom>
        </p:spPr>
        <p:txBody>
          <a:bodyPr anchor="t" rtlCol="false" tIns="0" lIns="0" bIns="0" rIns="0">
            <a:spAutoFit/>
          </a:bodyPr>
          <a:lstStyle/>
          <a:p>
            <a:pPr algn="l" marL="0" indent="0" lvl="0">
              <a:lnSpc>
                <a:spcPts val="5808"/>
              </a:lnSpc>
              <a:spcBef>
                <a:spcPct val="0"/>
              </a:spcBef>
            </a:pPr>
            <a:r>
              <a:rPr lang="en-US" sz="5808" spc="-458">
                <a:solidFill>
                  <a:srgbClr val="000000"/>
                </a:solidFill>
                <a:latin typeface="Archivo Black"/>
                <a:ea typeface="Archivo Black"/>
                <a:cs typeface="Archivo Black"/>
                <a:sym typeface="Archivo Black"/>
              </a:rPr>
              <a:t>Thanks for your attention!</a:t>
            </a:r>
          </a:p>
        </p:txBody>
      </p:sp>
    </p:spTree>
  </p:cSld>
  <p:clrMapOvr>
    <a:masterClrMapping/>
  </p:clrMapOvr>
  <p:transition spd="fast">
    <p:fade/>
  </p:transition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0</TotalTime>
  <Words>0</Words>
  <Application>Microsoft Office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Company/>
  <LinksUpToDate>false</LinksUpToDate>
  <SharedDoc>false</SharedDoc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xsi="http://www.w3.org/2001/XMLSchema-instance">
  <dcterms:created xsi:type="dcterms:W3CDTF">2006-08-16T00:00:00Z</dcterms:created>
  <dc:identifier>DAG2hbfC1IQ</dc:identifier>
  <dcterms:modified xsi:type="dcterms:W3CDTF">2011-08-01T06:04:30Z</dcterms:modified>
  <cp:revision>1</cp:revision>
  <dc:title>Beige and Black Minimalist Project Deck Presentation</dc:title>
</cp:coreProperties>
</file>